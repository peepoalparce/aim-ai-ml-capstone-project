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530" r:id="rId5"/>
    <p:sldId id="531" r:id="rId6"/>
    <p:sldId id="533" r:id="rId7"/>
    <p:sldId id="537" r:id="rId8"/>
    <p:sldId id="546" r:id="rId9"/>
    <p:sldId id="538" r:id="rId10"/>
    <p:sldId id="536" r:id="rId11"/>
    <p:sldId id="551" r:id="rId12"/>
    <p:sldId id="549" r:id="rId13"/>
    <p:sldId id="552" r:id="rId14"/>
    <p:sldId id="540" r:id="rId15"/>
    <p:sldId id="53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1F3"/>
    <a:srgbClr val="FD9FE9"/>
    <a:srgbClr val="8822EE"/>
    <a:srgbClr val="F01688"/>
    <a:srgbClr val="FEB52B"/>
    <a:srgbClr val="F01689"/>
    <a:srgbClr val="6F22E3"/>
    <a:srgbClr val="E218A3"/>
    <a:srgbClr val="BA20DB"/>
    <a:srgbClr val="6A2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5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49" y="762000"/>
            <a:ext cx="11268075" cy="2895600"/>
          </a:xfrm>
        </p:spPr>
        <p:txBody>
          <a:bodyPr/>
          <a:lstStyle/>
          <a:p>
            <a:r>
              <a:rPr lang="en-US" dirty="0"/>
              <a:t>AI‑DRIVEN CREDIT CARD FRAUD</a:t>
            </a:r>
            <a:br>
              <a:rPr lang="en-US" dirty="0"/>
            </a:br>
            <a:r>
              <a:rPr lang="en-US" dirty="0"/>
              <a:t>DETECTION</a:t>
            </a:r>
            <a:br>
              <a:rPr lang="en-US" dirty="0"/>
            </a:br>
            <a:br>
              <a:rPr lang="en-US" b="0" dirty="0"/>
            </a:br>
            <a:r>
              <a:rPr lang="en-US" sz="2000" b="0" dirty="0"/>
              <a:t>A Modern Strategy for Reducing Financial Risk and Strengthening Customer Trust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418" y="4403979"/>
            <a:ext cx="10441306" cy="1406271"/>
          </a:xfrm>
        </p:spPr>
        <p:txBody>
          <a:bodyPr/>
          <a:lstStyle/>
          <a:p>
            <a:pPr algn="l"/>
            <a:r>
              <a:rPr lang="en-US" sz="2000" dirty="0">
                <a:latin typeface="+mj-lt"/>
              </a:rPr>
              <a:t>Business Presentation</a:t>
            </a:r>
          </a:p>
          <a:p>
            <a:pPr algn="l"/>
            <a:r>
              <a:rPr lang="en-US" sz="2000" dirty="0">
                <a:latin typeface="+mj-lt"/>
              </a:rPr>
              <a:t>Orlando Pedro Z. Alparce</a:t>
            </a:r>
          </a:p>
          <a:p>
            <a:pPr algn="l"/>
            <a:r>
              <a:rPr lang="en-US" sz="2000" dirty="0">
                <a:latin typeface="+mj-lt"/>
              </a:rPr>
              <a:t>Post Graduate Diploma in Artificial Intelligence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04" y="722376"/>
            <a:ext cx="10386172" cy="80010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The Escalating Fraud Challenge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899" y="2551936"/>
            <a:ext cx="5229226" cy="3685223"/>
          </a:xfrm>
          <a:solidFill>
            <a:schemeClr val="accent3">
              <a:lumMod val="50000"/>
              <a:alpha val="5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2000" b="1" i="1" dirty="0">
                <a:latin typeface="+mj-lt"/>
                <a:cs typeface="Segoe UI Light" panose="020B0502040204020203" pitchFamily="34" charset="0"/>
              </a:rPr>
              <a:t>Severe Brand &amp; Financial Risk</a:t>
            </a:r>
          </a:p>
          <a:p>
            <a:pPr marL="342900" indent="-342900"/>
            <a:r>
              <a:rPr lang="en-US" sz="2000" dirty="0">
                <a:latin typeface="+mj-lt"/>
                <a:cs typeface="Segoe UI Light" panose="020B0502040204020203" pitchFamily="34" charset="0"/>
              </a:rPr>
              <a:t>Fraud causes direct financial losses and drives deep customer dissatisfaction.</a:t>
            </a:r>
          </a:p>
          <a:p>
            <a:pPr marL="342900" indent="-342900"/>
            <a:r>
              <a:rPr lang="en-US" sz="2000" dirty="0">
                <a:latin typeface="+mj-lt"/>
                <a:cs typeface="Segoe UI Light" panose="020B0502040204020203" pitchFamily="34" charset="0"/>
              </a:rPr>
              <a:t> When accounts are compromised, institutional trust drops sharply, sparking customer churn and elevated operational overhead.</a:t>
            </a:r>
            <a:endParaRPr lang="en-US" sz="2000" dirty="0">
              <a:solidFill>
                <a:schemeClr val="bg1"/>
              </a:solidFill>
              <a:latin typeface="+mj-lt"/>
              <a:cs typeface="Segoe UI Light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92E6957-9A81-581B-F0CA-3D6962AF0DF4}"/>
              </a:ext>
            </a:extLst>
          </p:cNvPr>
          <p:cNvSpPr txBox="1">
            <a:spLocks/>
          </p:cNvSpPr>
          <p:nvPr/>
        </p:nvSpPr>
        <p:spPr>
          <a:xfrm>
            <a:off x="6353175" y="2295524"/>
            <a:ext cx="5200650" cy="3941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62598A-4FE2-2538-587E-4BFB96AECC98}"/>
              </a:ext>
            </a:extLst>
          </p:cNvPr>
          <p:cNvSpPr txBox="1">
            <a:spLocks/>
          </p:cNvSpPr>
          <p:nvPr/>
        </p:nvSpPr>
        <p:spPr>
          <a:xfrm>
            <a:off x="6096000" y="2209799"/>
            <a:ext cx="5200650" cy="4219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7245AF-BF70-164A-6970-E11893A1C6BE}"/>
              </a:ext>
            </a:extLst>
          </p:cNvPr>
          <p:cNvSpPr txBox="1">
            <a:spLocks/>
          </p:cNvSpPr>
          <p:nvPr/>
        </p:nvSpPr>
        <p:spPr>
          <a:xfrm>
            <a:off x="6353175" y="2551937"/>
            <a:ext cx="5600700" cy="3685222"/>
          </a:xfrm>
          <a:prstGeom prst="rect">
            <a:avLst/>
          </a:prstGeom>
          <a:solidFill>
            <a:schemeClr val="accent3">
              <a:lumMod val="50000"/>
              <a:alpha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+mj-lt"/>
                <a:cs typeface="Segoe UI Light" panose="020B0502040204020203" pitchFamily="34" charset="0"/>
              </a:rPr>
              <a:t>The Failure of Rule-Based Systems</a:t>
            </a:r>
          </a:p>
          <a:p>
            <a:pPr marL="342900" indent="-342900"/>
            <a:r>
              <a:rPr lang="en-US" sz="2000" dirty="0">
                <a:latin typeface="+mj-lt"/>
                <a:cs typeface="Segoe UI Light" panose="020B0502040204020203" pitchFamily="34" charset="0"/>
              </a:rPr>
              <a:t>Fraudulent activities are rare events (just 0.17% of the dataset’s total volume), making identification incredibly difficult. Traditional rule-based workflows are easily circumvented by adaptive fraud loops and miss key dynamic insights.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FACA59-5BEA-40D3-2473-34178426DE49}"/>
              </a:ext>
            </a:extLst>
          </p:cNvPr>
          <p:cNvSpPr txBox="1">
            <a:spLocks/>
          </p:cNvSpPr>
          <p:nvPr/>
        </p:nvSpPr>
        <p:spPr>
          <a:xfrm>
            <a:off x="6353175" y="1789554"/>
            <a:ext cx="5514975" cy="459487"/>
          </a:xfrm>
          <a:prstGeom prst="rect">
            <a:avLst/>
          </a:prstGeom>
          <a:solidFill>
            <a:schemeClr val="accent3">
              <a:lumMod val="50000"/>
              <a:alpha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TECHNICAL LIMITATIONS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C54AB0-30DE-6DC9-0260-3746B5301082}"/>
              </a:ext>
            </a:extLst>
          </p:cNvPr>
          <p:cNvSpPr txBox="1">
            <a:spLocks/>
          </p:cNvSpPr>
          <p:nvPr/>
        </p:nvSpPr>
        <p:spPr>
          <a:xfrm>
            <a:off x="677116" y="1789553"/>
            <a:ext cx="5276010" cy="459487"/>
          </a:xfrm>
          <a:prstGeom prst="rect">
            <a:avLst/>
          </a:prstGeom>
          <a:solidFill>
            <a:schemeClr val="accent3">
              <a:lumMod val="50000"/>
              <a:alpha val="5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3272" y="1201270"/>
            <a:ext cx="8113618" cy="1802443"/>
          </a:xfrm>
        </p:spPr>
        <p:txBody>
          <a:bodyPr/>
          <a:lstStyle/>
          <a:p>
            <a:r>
              <a:rPr lang="en-US" dirty="0"/>
              <a:t>Target Objective &amp; Strategic Goals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6408" y="2995285"/>
            <a:ext cx="8879184" cy="2951606"/>
          </a:xfrm>
          <a:solidFill>
            <a:schemeClr val="accent3">
              <a:lumMod val="25000"/>
            </a:schemeClr>
          </a:solidFill>
        </p:spPr>
        <p:txBody>
          <a:bodyPr/>
          <a:lstStyle/>
          <a:p>
            <a:pPr algn="l"/>
            <a:r>
              <a:rPr lang="en-US" sz="2000" b="1" dirty="0">
                <a:latin typeface="+mj-lt"/>
              </a:rPr>
              <a:t>Deploy Scalable, AI-Driven Detection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+mj-lt"/>
              </a:rPr>
              <a:t>Identify Rare Patterns: </a:t>
            </a:r>
            <a:r>
              <a:rPr lang="en-US" sz="2000" dirty="0">
                <a:latin typeface="+mj-lt"/>
              </a:rPr>
              <a:t>Build models optimized specifically to isolate sparse fraudulent transactions under extreme class imbalance.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+mj-lt"/>
              </a:rPr>
              <a:t>Optimize Class Balance: </a:t>
            </a:r>
            <a:r>
              <a:rPr lang="en-US" sz="2000" dirty="0">
                <a:latin typeface="+mj-lt"/>
              </a:rPr>
              <a:t>Deliver an optimal trade-off to capture maximum undetected fraud while keeping false positives minimal.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+mj-lt"/>
              </a:rPr>
              <a:t>Drive Operations: </a:t>
            </a:r>
            <a:r>
              <a:rPr lang="en-US" sz="2000" dirty="0">
                <a:latin typeface="+mj-lt"/>
              </a:rPr>
              <a:t>Accelerate transaction clearance pipelines and establish customer trust across millions of dynamic touchpoints.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35E2EA6-EA73-C971-D94D-E26A2557B167}"/>
              </a:ext>
            </a:extLst>
          </p:cNvPr>
          <p:cNvSpPr txBox="1">
            <a:spLocks/>
          </p:cNvSpPr>
          <p:nvPr/>
        </p:nvSpPr>
        <p:spPr>
          <a:xfrm>
            <a:off x="2142744" y="1506069"/>
            <a:ext cx="4939374" cy="3765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endParaRPr lang="en-US" dirty="0"/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A6985787-4D99-C662-BEB0-929C03020047}"/>
              </a:ext>
            </a:extLst>
          </p:cNvPr>
          <p:cNvSpPr txBox="1">
            <a:spLocks/>
          </p:cNvSpPr>
          <p:nvPr/>
        </p:nvSpPr>
        <p:spPr>
          <a:xfrm>
            <a:off x="4277567" y="1882587"/>
            <a:ext cx="7152433" cy="4249271"/>
          </a:xfrm>
          <a:prstGeom prst="rect">
            <a:avLst/>
          </a:prstGeom>
          <a:solidFill>
            <a:schemeClr val="accent3">
              <a:lumMod val="25000"/>
              <a:alpha val="85000"/>
            </a:schemeClr>
          </a:solidFill>
        </p:spPr>
        <p:txBody>
          <a:bodyPr/>
          <a:lstStyle>
            <a:lvl1pPr marL="228600" indent="-3474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000"/>
              </a:spcAft>
              <a:buNone/>
            </a:pPr>
            <a:r>
              <a:rPr lang="en-AE" sz="2400" b="1" dirty="0"/>
              <a:t>Data Integrity Metrics</a:t>
            </a:r>
          </a:p>
          <a:p>
            <a:pPr marL="476250" indent="-387350">
              <a:spcAft>
                <a:spcPts val="800"/>
              </a:spcAft>
            </a:pPr>
            <a:r>
              <a:rPr lang="en-AE" sz="2400" b="1" dirty="0"/>
              <a:t>284,807 Records</a:t>
            </a:r>
            <a:r>
              <a:rPr lang="en-AE" sz="2400" dirty="0"/>
              <a:t> — Massive transaction scope analysed spanning distinct validation dates.</a:t>
            </a:r>
          </a:p>
          <a:p>
            <a:pPr marL="476250" indent="-387350">
              <a:spcAft>
                <a:spcPts val="800"/>
              </a:spcAft>
            </a:pPr>
            <a:r>
              <a:rPr lang="en-AE" sz="2400" b="1" dirty="0"/>
              <a:t>492 Verified Incidents</a:t>
            </a:r>
            <a:r>
              <a:rPr lang="en-AE" sz="2400" dirty="0"/>
              <a:t> — Highly verified fraud occurrences, demonstrating massive imbalance.</a:t>
            </a:r>
          </a:p>
          <a:p>
            <a:pPr marL="476250" indent="-387350">
              <a:spcAft>
                <a:spcPts val="800"/>
              </a:spcAft>
            </a:pPr>
            <a:r>
              <a:rPr lang="en-AE" sz="2400" b="1" dirty="0"/>
              <a:t>PCA Dimensions</a:t>
            </a:r>
            <a:r>
              <a:rPr lang="en-AE" sz="2400" dirty="0"/>
              <a:t> — Input variables processed through transformed PCA vectors for confidentiality.</a:t>
            </a:r>
          </a:p>
          <a:p>
            <a:pPr marL="476250" indent="-387350">
              <a:spcAft>
                <a:spcPts val="800"/>
              </a:spcAft>
            </a:pPr>
            <a:r>
              <a:rPr lang="en-AE" sz="2400" b="1" dirty="0"/>
              <a:t>Zero Missing Values</a:t>
            </a:r>
            <a:r>
              <a:rPr lang="en-AE" sz="2400" dirty="0"/>
              <a:t> — 100% clean structure providing optimal data quality.</a:t>
            </a:r>
          </a:p>
          <a:p>
            <a:endParaRPr lang="en-AE" sz="1800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BD772B-B248-6310-199C-60CB2665FD5C}"/>
              </a:ext>
            </a:extLst>
          </p:cNvPr>
          <p:cNvSpPr/>
          <p:nvPr/>
        </p:nvSpPr>
        <p:spPr>
          <a:xfrm>
            <a:off x="884728" y="2953688"/>
            <a:ext cx="2786207" cy="1607266"/>
          </a:xfrm>
          <a:prstGeom prst="rect">
            <a:avLst/>
          </a:prstGeom>
          <a:solidFill>
            <a:schemeClr val="accent2">
              <a:alpha val="6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800" dirty="0">
                <a:solidFill>
                  <a:schemeClr val="tx1"/>
                </a:solidFill>
                <a:latin typeface="+mj-lt"/>
              </a:rPr>
              <a:t>0.17%</a:t>
            </a:r>
          </a:p>
          <a:p>
            <a:pPr algn="ctr"/>
            <a:r>
              <a:rPr lang="en-PH" sz="2000" dirty="0">
                <a:ln w="0"/>
                <a:solidFill>
                  <a:schemeClr val="tx1"/>
                </a:solidFill>
                <a:latin typeface="+mj-lt"/>
              </a:rPr>
              <a:t>Extreme Class Imbalance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DDDAFBF-4461-1502-EC45-814B29454018}"/>
              </a:ext>
            </a:extLst>
          </p:cNvPr>
          <p:cNvSpPr txBox="1">
            <a:spLocks/>
          </p:cNvSpPr>
          <p:nvPr/>
        </p:nvSpPr>
        <p:spPr>
          <a:xfrm>
            <a:off x="1216062" y="266051"/>
            <a:ext cx="9759876" cy="17145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Dataset Characteristics &amp; Scope</a:t>
            </a:r>
            <a:br>
              <a:rPr lang="en-US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1321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0B07383B-6310-56A6-B051-F4B962E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AI-Driven Detection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A2D8B-92F5-22B2-084C-934BCBC00D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975320" cy="70277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Imbalance Tuning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AC0C5B-16A7-E317-7222-BF9FA26C0D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05299" y="2478024"/>
            <a:ext cx="3198159" cy="704088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Real-Time Scoring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D9B67F-AD02-4BA5-209B-C91070303A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05299" y="3236975"/>
            <a:ext cx="3198160" cy="2652835"/>
          </a:xfrm>
        </p:spPr>
        <p:txBody>
          <a:bodyPr/>
          <a:lstStyle/>
          <a:p>
            <a:pPr algn="ctr"/>
            <a:r>
              <a:rPr lang="en-US" sz="2000" dirty="0">
                <a:latin typeface="+mj-lt"/>
              </a:rPr>
              <a:t>Execute sub-millisecond network scoring to</a:t>
            </a:r>
          </a:p>
          <a:p>
            <a:pPr algn="ctr"/>
            <a:r>
              <a:rPr lang="en-US" sz="2000" dirty="0">
                <a:latin typeface="+mj-lt"/>
              </a:rPr>
              <a:t>stop questionable transactional checkout</a:t>
            </a:r>
          </a:p>
          <a:p>
            <a:pPr algn="ctr"/>
            <a:r>
              <a:rPr lang="en-US" sz="2000" dirty="0">
                <a:latin typeface="+mj-lt"/>
              </a:rPr>
              <a:t>behaviors before card processing completes.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39B280-D4F1-D5B7-9D62-C1DA10C605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2706" y="3236976"/>
            <a:ext cx="2886636" cy="2652836"/>
          </a:xfrm>
        </p:spPr>
        <p:txBody>
          <a:bodyPr/>
          <a:lstStyle/>
          <a:p>
            <a:pPr algn="ctr"/>
            <a:r>
              <a:rPr lang="en-US" sz="2000" dirty="0">
                <a:latin typeface="+mj-lt"/>
              </a:rPr>
              <a:t>Ensure standard customers bypass fraud</a:t>
            </a:r>
          </a:p>
          <a:p>
            <a:pPr algn="ctr"/>
            <a:r>
              <a:rPr lang="en-US" sz="2000" dirty="0">
                <a:latin typeface="+mj-lt"/>
              </a:rPr>
              <a:t>verifications smoothly, retaining absolute</a:t>
            </a:r>
          </a:p>
          <a:p>
            <a:pPr algn="ctr"/>
            <a:r>
              <a:rPr lang="en-US" sz="2000" dirty="0">
                <a:latin typeface="+mj-lt"/>
              </a:rPr>
              <a:t>satisfaction and zero checkout friction</a:t>
            </a:r>
            <a:r>
              <a:rPr lang="en-US" dirty="0"/>
              <a:t>.</a:t>
            </a:r>
          </a:p>
        </p:txBody>
      </p:sp>
      <p:sp>
        <p:nvSpPr>
          <p:cNvPr id="3" name="Text Placeholder 80">
            <a:extLst>
              <a:ext uri="{FF2B5EF4-FFF2-40B4-BE49-F238E27FC236}">
                <a16:creationId xmlns:a16="http://schemas.microsoft.com/office/drawing/2014/main" id="{B7841C21-B4F8-C3F5-67A7-6A70B27B3961}"/>
              </a:ext>
            </a:extLst>
          </p:cNvPr>
          <p:cNvSpPr txBox="1">
            <a:spLocks/>
          </p:cNvSpPr>
          <p:nvPr/>
        </p:nvSpPr>
        <p:spPr>
          <a:xfrm>
            <a:off x="8202706" y="2478025"/>
            <a:ext cx="2867586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 spc="0" baseline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Frictionless Path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D3CA039-BEFB-3BF1-2D10-308A21283A1E}"/>
              </a:ext>
            </a:extLst>
          </p:cNvPr>
          <p:cNvSpPr txBox="1">
            <a:spLocks/>
          </p:cNvSpPr>
          <p:nvPr/>
        </p:nvSpPr>
        <p:spPr>
          <a:xfrm>
            <a:off x="727339" y="3236975"/>
            <a:ext cx="2975321" cy="2652835"/>
          </a:xfrm>
          <a:prstGeom prst="rect">
            <a:avLst/>
          </a:prstGeom>
          <a:ln w="12700">
            <a:solidFill>
              <a:schemeClr val="bg1"/>
            </a:solidFill>
          </a:ln>
        </p:spPr>
        <p:txBody>
          <a:bodyPr vert="horz" lIns="256032" tIns="201168" rIns="27432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kern="1200" spc="0" baseline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AD63-B5B3-2A41-468E-B28AFEE331DA}"/>
              </a:ext>
            </a:extLst>
          </p:cNvPr>
          <p:cNvSpPr txBox="1"/>
          <p:nvPr/>
        </p:nvSpPr>
        <p:spPr>
          <a:xfrm>
            <a:off x="841659" y="3429000"/>
            <a:ext cx="27466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Deploy specialized learning strategies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+mj-lt"/>
              </a:rPr>
              <a:t>(SMOTE, precision prioritized loss matrices) to target the 0.17% fraud anomaly specifically.</a:t>
            </a:r>
            <a:endParaRPr lang="en-AE" sz="2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013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169" y="578134"/>
            <a:ext cx="8878824" cy="1069848"/>
          </a:xfrm>
        </p:spPr>
        <p:txBody>
          <a:bodyPr/>
          <a:lstStyle/>
          <a:p>
            <a:r>
              <a:rPr lang="en-US" dirty="0"/>
              <a:t>Exploratory Data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334" y="2185416"/>
            <a:ext cx="2471031" cy="493776"/>
          </a:xfrm>
        </p:spPr>
        <p:txBody>
          <a:bodyPr/>
          <a:lstStyle/>
          <a:p>
            <a:pPr algn="ctr"/>
            <a:r>
              <a:rPr lang="en-US" dirty="0"/>
              <a:t>Distinct Profiles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39553" y="2185416"/>
            <a:ext cx="2581834" cy="493776"/>
          </a:xfrm>
        </p:spPr>
        <p:txBody>
          <a:bodyPr/>
          <a:lstStyle/>
          <a:p>
            <a:pPr algn="ctr"/>
            <a:r>
              <a:rPr lang="en-US" dirty="0"/>
              <a:t>Value Deviations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4B745CE-674B-3AFA-A47C-62184921312C}"/>
              </a:ext>
            </a:extLst>
          </p:cNvPr>
          <p:cNvSpPr txBox="1">
            <a:spLocks/>
          </p:cNvSpPr>
          <p:nvPr/>
        </p:nvSpPr>
        <p:spPr>
          <a:xfrm>
            <a:off x="8435788" y="2206394"/>
            <a:ext cx="2581835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Complex Features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2CDFDBD-DE62-B8FE-7828-764D8CDDCB1C}"/>
              </a:ext>
            </a:extLst>
          </p:cNvPr>
          <p:cNvSpPr txBox="1">
            <a:spLocks/>
          </p:cNvSpPr>
          <p:nvPr/>
        </p:nvSpPr>
        <p:spPr>
          <a:xfrm>
            <a:off x="1688592" y="2958352"/>
            <a:ext cx="2399314" cy="2515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C9DF2F-ADB3-E77B-7097-5BB9DF520333}"/>
              </a:ext>
            </a:extLst>
          </p:cNvPr>
          <p:cNvSpPr/>
          <p:nvPr/>
        </p:nvSpPr>
        <p:spPr>
          <a:xfrm>
            <a:off x="1500333" y="2958351"/>
            <a:ext cx="2471031" cy="2357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Fraud transactions demonstrate sharply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disparate spending behaviors and velocity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vectors compared to benign transaction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classes.</a:t>
            </a:r>
            <a:endParaRPr lang="en-AE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394B3B-F953-52F8-B187-392591D2D421}"/>
              </a:ext>
            </a:extLst>
          </p:cNvPr>
          <p:cNvSpPr/>
          <p:nvPr/>
        </p:nvSpPr>
        <p:spPr>
          <a:xfrm>
            <a:off x="4939553" y="2958352"/>
            <a:ext cx="2581834" cy="235771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High-value spend thresholds call for isolated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risk scoring models as fraud is concentrated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heavily on distinct cluster limits.</a:t>
            </a:r>
            <a:endParaRPr lang="en-AE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240901-E27C-3288-0713-D99B118D8B80}"/>
              </a:ext>
            </a:extLst>
          </p:cNvPr>
          <p:cNvSpPr/>
          <p:nvPr/>
        </p:nvSpPr>
        <p:spPr>
          <a:xfrm>
            <a:off x="8435789" y="2958352"/>
            <a:ext cx="2581834" cy="23577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PCA-transformed variables hold complex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spatial associations, perfectly suited for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multi-layered artificial intelligence classifiers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  <a:endParaRPr lang="en-AE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722376"/>
            <a:ext cx="9994392" cy="1179576"/>
          </a:xfrm>
        </p:spPr>
        <p:txBody>
          <a:bodyPr/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Model Benchmarking Performance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9C20947-A133-32C2-D0F4-654D337A74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168675"/>
              </p:ext>
            </p:extLst>
          </p:nvPr>
        </p:nvGraphicFramePr>
        <p:xfrm>
          <a:off x="1324265" y="2250141"/>
          <a:ext cx="9872654" cy="384048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972357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982961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961752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977792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1977792">
                  <a:extLst>
                    <a:ext uri="{9D8B030D-6E8A-4147-A177-3AD203B41FA5}">
                      <a16:colId xmlns:a16="http://schemas.microsoft.com/office/drawing/2014/main" val="1664743639"/>
                    </a:ext>
                  </a:extLst>
                </a:gridCol>
              </a:tblGrid>
              <a:tr h="815281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+mj-lt"/>
                          <a:cs typeface="Segoe UI Light" panose="020B0502040204020203" pitchFamily="34" charset="0"/>
                        </a:rPr>
                        <a:t>Algorithmic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+mj-lt"/>
                          <a:cs typeface="Segoe UI Light" panose="020B0502040204020203" pitchFamily="34" charset="0"/>
                        </a:rPr>
                        <a:t>Recall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+mj-lt"/>
                          <a:cs typeface="Segoe UI Light" panose="020B0502040204020203" pitchFamily="34" charset="0"/>
                        </a:rPr>
                        <a:t>Precision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+mj-lt"/>
                          <a:cs typeface="Segoe UI Light" panose="020B0502040204020203" pitchFamily="34" charset="0"/>
                        </a:rPr>
                        <a:t>PR-AUC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+mj-lt"/>
                          <a:cs typeface="Segoe UI Light" panose="020B0502040204020203" pitchFamily="34" charset="0"/>
                        </a:rPr>
                        <a:t>Operational Verdict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815281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Inadequate classification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04893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Exceptional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Best Overall Model (Selected)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1056846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 err="1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XGBoost</a:t>
                      </a:r>
                      <a:endParaRPr lang="en-US" sz="2000" b="0" i="0" dirty="0">
                        <a:solidFill>
                          <a:schemeClr val="bg1"/>
                        </a:solidFill>
                        <a:latin typeface="+mj-lt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0.85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bg1"/>
                          </a:solidFill>
                          <a:latin typeface="+mj-lt"/>
                          <a:cs typeface="Segoe UI Light" panose="020B0502040204020203" pitchFamily="34" charset="0"/>
                        </a:rPr>
                        <a:t>Strong competitor; slightly higher false positives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E696B9D-896B-CFF8-BA07-F9B541E1DE91}"/>
              </a:ext>
            </a:extLst>
          </p:cNvPr>
          <p:cNvSpPr txBox="1">
            <a:spLocks/>
          </p:cNvSpPr>
          <p:nvPr/>
        </p:nvSpPr>
        <p:spPr>
          <a:xfrm>
            <a:off x="3416225" y="6147582"/>
            <a:ext cx="5925669" cy="5824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" b="0" cap="none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All models were trained and tested on structured, synthetically balanced datasets to eliminate class-imbalance bias.</a:t>
            </a:r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2C061B-A928-14DC-7769-5E6EA91C21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2622" y="4097078"/>
            <a:ext cx="2186671" cy="2348543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Decision structures remain easily</a:t>
            </a:r>
          </a:p>
          <a:p>
            <a:r>
              <a:rPr lang="en-US" sz="1800" dirty="0">
                <a:latin typeface="+mj-lt"/>
              </a:rPr>
              <a:t>auditable to ensure alignment with financial regulations.</a:t>
            </a:r>
            <a:endParaRPr lang="en-AE" sz="1800" dirty="0">
              <a:latin typeface="+mj-lt"/>
            </a:endParaRPr>
          </a:p>
        </p:txBody>
      </p:sp>
      <p:sp>
        <p:nvSpPr>
          <p:cNvPr id="69" name="Title 68">
            <a:extLst>
              <a:ext uri="{FF2B5EF4-FFF2-40B4-BE49-F238E27FC236}">
                <a16:creationId xmlns:a16="http://schemas.microsoft.com/office/drawing/2014/main" id="{0B07383B-6310-56A6-B051-F4B962E1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764" y="831850"/>
            <a:ext cx="8644684" cy="1767915"/>
          </a:xfrm>
        </p:spPr>
        <p:txBody>
          <a:bodyPr/>
          <a:lstStyle/>
          <a:p>
            <a:r>
              <a:rPr lang="en-US" dirty="0"/>
              <a:t>The Optimal Production Choice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145D0E3-23B3-1C4A-390B-5C33629FD4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5423" y="3274637"/>
            <a:ext cx="2098157" cy="70277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PH" sz="1800" dirty="0"/>
              <a:t>Handles Non-Linear Complexities:</a:t>
            </a:r>
            <a:endParaRPr lang="en-AE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04B5D-BB88-E446-FDC1-8BE748EFE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5423" y="4097524"/>
            <a:ext cx="2219171" cy="2348097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Easily traces highly complex multidimensional fraud decision trees without over-fitting variables.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2BA5657-63E1-70B3-5176-281464488B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6321" y="3274637"/>
            <a:ext cx="2284879" cy="704088"/>
          </a:xfrm>
          <a:solidFill>
            <a:schemeClr val="accent2"/>
          </a:solidFill>
        </p:spPr>
        <p:txBody>
          <a:bodyPr/>
          <a:lstStyle/>
          <a:p>
            <a:r>
              <a:rPr lang="en-PH" sz="1800" dirty="0"/>
              <a:t>Lowers False Positives:</a:t>
            </a:r>
            <a:endParaRPr lang="en-AE" sz="1800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395AF4A-A874-B830-3F86-B7D1978105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56298" y="4097078"/>
            <a:ext cx="2334902" cy="2348545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High precision scoring keeps regular customers from encountering unwanted checkout denials.</a:t>
            </a:r>
            <a:endParaRPr lang="en-AE" sz="1800" dirty="0">
              <a:latin typeface="+mj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AABCD9F-3FC9-DD74-61A2-78554EFFCC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0588" y="1861058"/>
            <a:ext cx="4379663" cy="797884"/>
          </a:xfrm>
          <a:solidFill>
            <a:schemeClr val="accent2"/>
          </a:solidFill>
          <a:ln>
            <a:noFill/>
          </a:ln>
        </p:spPr>
        <p:txBody>
          <a:bodyPr/>
          <a:lstStyle/>
          <a:p>
            <a:r>
              <a:rPr lang="en-PH" sz="2800" dirty="0"/>
              <a:t>Why Random Forest?</a:t>
            </a:r>
            <a:endParaRPr lang="en-AE" sz="2800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4B19AA0-42AF-7253-359E-6B498C65AA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41728" y="3224587"/>
            <a:ext cx="2186672" cy="704088"/>
          </a:xfrm>
          <a:solidFill>
            <a:schemeClr val="accent2"/>
          </a:solidFill>
        </p:spPr>
        <p:txBody>
          <a:bodyPr/>
          <a:lstStyle/>
          <a:p>
            <a:r>
              <a:rPr lang="en-PH" sz="1800" dirty="0"/>
              <a:t>High Stability:</a:t>
            </a:r>
            <a:endParaRPr lang="en-AE" sz="1800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93F38E1-2951-CF82-0C81-8EB8880E8B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41728" y="4097079"/>
            <a:ext cx="2269190" cy="2348544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Exceptional robustness even when handling sudden transactional shifts in market sectors.</a:t>
            </a:r>
            <a:endParaRPr lang="en-AE" sz="1800" dirty="0">
              <a:latin typeface="+mj-lt"/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E7F24FE-3357-B5E9-536B-69D5D64758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22621" y="3229301"/>
            <a:ext cx="2186672" cy="702769"/>
          </a:xfrm>
          <a:solidFill>
            <a:schemeClr val="accent2"/>
          </a:solidFill>
        </p:spPr>
        <p:txBody>
          <a:bodyPr/>
          <a:lstStyle/>
          <a:p>
            <a:r>
              <a:rPr lang="en-PH" sz="1800" dirty="0"/>
              <a:t>Fully Compliance-Ready:</a:t>
            </a:r>
            <a:endParaRPr lang="en-AE" sz="1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0332F9-B44F-C2CA-F832-600D4261EA7F}"/>
              </a:ext>
            </a:extLst>
          </p:cNvPr>
          <p:cNvSpPr/>
          <p:nvPr/>
        </p:nvSpPr>
        <p:spPr>
          <a:xfrm>
            <a:off x="6641728" y="1449769"/>
            <a:ext cx="5137895" cy="151107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+mj-lt"/>
              </a:rPr>
              <a:t>0.87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+mj-lt"/>
              </a:rPr>
              <a:t>PR-AUC SCORE ACHIEVED</a:t>
            </a:r>
          </a:p>
        </p:txBody>
      </p:sp>
    </p:spTree>
    <p:extLst>
      <p:ext uri="{BB962C8B-B14F-4D97-AF65-F5344CB8AC3E}">
        <p14:creationId xmlns:p14="http://schemas.microsoft.com/office/powerpoint/2010/main" val="27688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7AAC-64C7-00EC-CEA5-2D0DA246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1A4314-75E0-3A2C-ECE3-F140F1E5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7796" y="698350"/>
            <a:ext cx="521208" cy="310896"/>
          </a:xfrm>
        </p:spPr>
        <p:txBody>
          <a:bodyPr/>
          <a:lstStyle/>
          <a:p>
            <a:fld id="{294A09A9-5501-47C1-A89A-A340965A2BE2}" type="slidenum">
              <a:rPr lang="en-US" smtClean="0">
                <a:latin typeface="+mj-lt"/>
              </a:rPr>
              <a:t>9</a:t>
            </a:fld>
            <a:endParaRPr lang="en-US" dirty="0">
              <a:latin typeface="+mj-lt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C231692-3D72-EC63-419A-EDFF54010CDB}"/>
              </a:ext>
            </a:extLst>
          </p:cNvPr>
          <p:cNvSpPr txBox="1">
            <a:spLocks/>
          </p:cNvSpPr>
          <p:nvPr/>
        </p:nvSpPr>
        <p:spPr>
          <a:xfrm>
            <a:off x="840442" y="4751461"/>
            <a:ext cx="5229226" cy="22947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cs typeface="Segoe UI Light" panose="020B0502040204020203" pitchFamily="34" charset="0"/>
              </a:rPr>
              <a:t>Faster Automated Flagging</a:t>
            </a:r>
          </a:p>
          <a:p>
            <a:r>
              <a:rPr lang="en-US" sz="2000" b="0" dirty="0">
                <a:cs typeface="Segoe UI Light" panose="020B0502040204020203" pitchFamily="34" charset="0"/>
              </a:rPr>
              <a:t>Real-time automated evaluation frees up operations teams to resolve complex cases faster.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97EC47-9E34-B5AA-8CEE-005D6BFE5EB1}"/>
              </a:ext>
            </a:extLst>
          </p:cNvPr>
          <p:cNvSpPr txBox="1">
            <a:spLocks/>
          </p:cNvSpPr>
          <p:nvPr/>
        </p:nvSpPr>
        <p:spPr>
          <a:xfrm>
            <a:off x="6757148" y="4751461"/>
            <a:ext cx="5229226" cy="20168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cs typeface="Segoe UI Light" panose="020B0502040204020203" pitchFamily="34" charset="0"/>
              </a:rPr>
              <a:t>Explainability &amp; Ethics</a:t>
            </a:r>
          </a:p>
          <a:p>
            <a:r>
              <a:rPr lang="en-US" sz="2000" b="0" dirty="0">
                <a:cs typeface="Segoe UI Light" panose="020B0502040204020203" pitchFamily="34" charset="0"/>
              </a:rPr>
              <a:t>Transparent feature parameters keep the model fully auditable for clean regulatory compliance.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7C62C70-A2E5-7840-1004-15F7B84B84E8}"/>
              </a:ext>
            </a:extLst>
          </p:cNvPr>
          <p:cNvSpPr txBox="1">
            <a:spLocks/>
          </p:cNvSpPr>
          <p:nvPr/>
        </p:nvSpPr>
        <p:spPr>
          <a:xfrm>
            <a:off x="771671" y="2541996"/>
            <a:ext cx="5229226" cy="1245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cs typeface="Segoe UI Light" panose="020B0502040204020203" pitchFamily="34" charset="0"/>
              </a:rPr>
              <a:t>Minimize Losses</a:t>
            </a:r>
          </a:p>
          <a:p>
            <a:r>
              <a:rPr lang="en-US" sz="2000" b="0" dirty="0">
                <a:cs typeface="Segoe UI Light" panose="020B0502040204020203" pitchFamily="34" charset="0"/>
              </a:rPr>
              <a:t>Targeted fraud detection reduces financial leaks and slashes expensive recovery and chargeback costs.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CB787FC-F891-C416-25F8-4105FA88C87D}"/>
              </a:ext>
            </a:extLst>
          </p:cNvPr>
          <p:cNvSpPr txBox="1">
            <a:spLocks/>
          </p:cNvSpPr>
          <p:nvPr/>
        </p:nvSpPr>
        <p:spPr>
          <a:xfrm>
            <a:off x="6819901" y="2546315"/>
            <a:ext cx="5229226" cy="14162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cs typeface="Segoe UI Light" panose="020B0502040204020203" pitchFamily="34" charset="0"/>
              </a:rPr>
              <a:t>Legitimate Transaction Flow</a:t>
            </a:r>
          </a:p>
          <a:p>
            <a:r>
              <a:rPr lang="en-US" sz="2000" b="0" dirty="0">
                <a:cs typeface="Segoe UI Light" panose="020B0502040204020203" pitchFamily="34" charset="0"/>
              </a:rPr>
              <a:t>Reducing false alarms ensures hassle-free checkouts for loyal customers and improves brand value.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9ED768-520E-9562-09F3-075046128413}"/>
              </a:ext>
            </a:extLst>
          </p:cNvPr>
          <p:cNvSpPr/>
          <p:nvPr/>
        </p:nvSpPr>
        <p:spPr>
          <a:xfrm>
            <a:off x="1541929" y="1757425"/>
            <a:ext cx="3065929" cy="5647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Protection</a:t>
            </a:r>
            <a:endParaRPr lang="en-AE" b="1" dirty="0">
              <a:solidFill>
                <a:schemeClr val="tx1"/>
              </a:solidFill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22D456D-30C0-3123-0F0C-7DF994EDA647}"/>
              </a:ext>
            </a:extLst>
          </p:cNvPr>
          <p:cNvSpPr/>
          <p:nvPr/>
        </p:nvSpPr>
        <p:spPr>
          <a:xfrm>
            <a:off x="1712258" y="3982822"/>
            <a:ext cx="2895600" cy="5737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+mj-lt"/>
              </a:rPr>
              <a:t>Efficiency</a:t>
            </a:r>
            <a:endParaRPr lang="en-AE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DC264D-5C73-C655-61E3-4CF5983156F2}"/>
              </a:ext>
            </a:extLst>
          </p:cNvPr>
          <p:cNvSpPr/>
          <p:nvPr/>
        </p:nvSpPr>
        <p:spPr>
          <a:xfrm>
            <a:off x="7584142" y="1757425"/>
            <a:ext cx="3065929" cy="627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+mj-lt"/>
              </a:rPr>
              <a:t>Customer Trust</a:t>
            </a:r>
            <a:endParaRPr lang="en-AE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EAB7C64-9C68-1E32-C86F-E93FC9143B48}"/>
              </a:ext>
            </a:extLst>
          </p:cNvPr>
          <p:cNvSpPr/>
          <p:nvPr/>
        </p:nvSpPr>
        <p:spPr>
          <a:xfrm>
            <a:off x="7700683" y="4070146"/>
            <a:ext cx="3092822" cy="5737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>
                <a:solidFill>
                  <a:schemeClr val="tx1"/>
                </a:solidFill>
                <a:latin typeface="+mj-lt"/>
              </a:rPr>
              <a:t>Compliance</a:t>
            </a:r>
            <a:endParaRPr lang="en-AE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574340C9-CCBD-D5A4-E3B5-13B73288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671" y="737530"/>
            <a:ext cx="10648658" cy="80010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Deliver Real-World</a:t>
            </a:r>
            <a:br>
              <a:rPr lang="en-US" dirty="0"/>
            </a:br>
            <a:r>
              <a:rPr lang="en-US" dirty="0"/>
              <a:t>Business Value</a:t>
            </a:r>
          </a:p>
        </p:txBody>
      </p:sp>
    </p:spTree>
    <p:extLst>
      <p:ext uri="{BB962C8B-B14F-4D97-AF65-F5344CB8AC3E}">
        <p14:creationId xmlns:p14="http://schemas.microsoft.com/office/powerpoint/2010/main" val="56721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1A4F9-A07C-64F6-AC5F-2BE40F11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5C1534-8CF1-5598-2288-FFBD16D1A9C4}"/>
              </a:ext>
            </a:extLst>
          </p:cNvPr>
          <p:cNvSpPr/>
          <p:nvPr/>
        </p:nvSpPr>
        <p:spPr>
          <a:xfrm>
            <a:off x="552559" y="2256126"/>
            <a:ext cx="5326829" cy="312359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+mj-lt"/>
              </a:rPr>
              <a:t>No Value-Based Bias</a:t>
            </a:r>
          </a:p>
          <a:p>
            <a:pPr algn="ctr"/>
            <a:endParaRPr lang="en-US" sz="2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+mj-lt"/>
              </a:rPr>
              <a:t>The models explicitly exclude sensitive demographic inputs, guaranteeing that predictive calculations rely purely on verified transaction behavior patterns rather than private status metrics.</a:t>
            </a:r>
            <a:endParaRPr lang="en-AE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B35EC1-49E2-36B0-C0FF-BC3C701B3BFE}"/>
              </a:ext>
            </a:extLst>
          </p:cNvPr>
          <p:cNvSpPr/>
          <p:nvPr/>
        </p:nvSpPr>
        <p:spPr>
          <a:xfrm>
            <a:off x="6312613" y="2256126"/>
            <a:ext cx="5392156" cy="312359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+mj-lt"/>
              </a:rPr>
              <a:t>No Value-Based Bias</a:t>
            </a:r>
          </a:p>
          <a:p>
            <a:pPr algn="ctr"/>
            <a:endParaRPr lang="en-US" sz="2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+mj-lt"/>
              </a:rPr>
              <a:t>The models explicitly exclude sensitive demographic inputs, guaranteeing that predictive calculations rely purely on verified transaction behavior patterns rather than private status metrics.</a:t>
            </a:r>
            <a:endParaRPr lang="en-AE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E68CBBA-3CB6-BB81-A336-10095B128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8901"/>
            <a:ext cx="9144000" cy="1228165"/>
          </a:xfrm>
        </p:spPr>
        <p:txBody>
          <a:bodyPr/>
          <a:lstStyle/>
          <a:p>
            <a:r>
              <a:rPr lang="en-US" sz="4000" dirty="0"/>
              <a:t>Ethical AI &amp; Fairness</a:t>
            </a:r>
            <a:br>
              <a:rPr lang="en-US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5030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57144164-5503-9D11-4F68-81F4CD37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41" y="484094"/>
            <a:ext cx="8894871" cy="1417858"/>
          </a:xfrm>
        </p:spPr>
        <p:txBody>
          <a:bodyPr/>
          <a:lstStyle/>
          <a:p>
            <a:r>
              <a:rPr lang="en-US" dirty="0"/>
              <a:t>Systematic Deployment Roadmap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6FD90-6ABD-5EA8-0870-E27733B9F6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25EB-9239-A8F4-48C2-D2E44A245C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API Scoring Setup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3BCC4-AF80-8D3B-413B-3F80C74503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6"/>
            <a:ext cx="2468880" cy="1108547"/>
          </a:xfrm>
        </p:spPr>
        <p:txBody>
          <a:bodyPr/>
          <a:lstStyle/>
          <a:p>
            <a:r>
              <a:rPr lang="en-US" dirty="0"/>
              <a:t>Establish ultra-low latency real-time API</a:t>
            </a:r>
          </a:p>
          <a:p>
            <a:r>
              <a:rPr lang="en-US" dirty="0"/>
              <a:t>nodes for continuous evaluations.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EAAE3-47A6-DF8C-088B-8353E31289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Console Hookup​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956031-A8E2-FF88-2769-10FEB7B754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79" cy="1108546"/>
          </a:xfrm>
        </p:spPr>
        <p:txBody>
          <a:bodyPr/>
          <a:lstStyle/>
          <a:p>
            <a:r>
              <a:rPr lang="en-US" dirty="0"/>
              <a:t>Route active transaction scoring feeds</a:t>
            </a:r>
          </a:p>
          <a:p>
            <a:r>
              <a:rPr lang="en-US" dirty="0"/>
              <a:t>directly to the fraud monitoring UI.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AD9EB9-CF0D-0D70-D541-05E1A813D0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Threshold Tuning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9DE758-CE4B-6136-04AE-85B544CA6F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6"/>
            <a:ext cx="2468879" cy="983041"/>
          </a:xfrm>
        </p:spPr>
        <p:txBody>
          <a:bodyPr/>
          <a:lstStyle/>
          <a:p>
            <a:r>
              <a:rPr lang="en-US" dirty="0"/>
              <a:t>Dynamically configure alert triggers based</a:t>
            </a:r>
          </a:p>
          <a:p>
            <a:r>
              <a:rPr lang="en-US" dirty="0"/>
              <a:t>on target risk sensitivity.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A99FBE-9850-5F5D-04D9-E3A83DEEA9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Drift Auditing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AAB49A-6730-B2CF-9537-FF9551D4EB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25126" cy="1108546"/>
          </a:xfrm>
        </p:spPr>
        <p:txBody>
          <a:bodyPr/>
          <a:lstStyle/>
          <a:p>
            <a:r>
              <a:rPr lang="en-US" dirty="0"/>
              <a:t>Install continuous pipeline</a:t>
            </a:r>
          </a:p>
          <a:p>
            <a:r>
              <a:rPr lang="en-US" dirty="0"/>
              <a:t>auditing for</a:t>
            </a:r>
          </a:p>
          <a:p>
            <a:r>
              <a:rPr lang="en-US" dirty="0"/>
              <a:t>system-wide performance checks.</a:t>
            </a:r>
          </a:p>
        </p:txBody>
      </p:sp>
      <p:pic>
        <p:nvPicPr>
          <p:cNvPr id="24" name="Picture 23" descr="Phase 1 - Brushy Creek MUD">
            <a:extLst>
              <a:ext uri="{FF2B5EF4-FFF2-40B4-BE49-F238E27FC236}">
                <a16:creationId xmlns:a16="http://schemas.microsoft.com/office/drawing/2014/main" id="{675BABF5-2749-D3E2-8DEB-AC5D4D911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36" y="2666700"/>
            <a:ext cx="1618330" cy="1398902"/>
          </a:xfrm>
          <a:prstGeom prst="rect">
            <a:avLst/>
          </a:prstGeom>
        </p:spPr>
      </p:pic>
      <p:pic>
        <p:nvPicPr>
          <p:cNvPr id="25" name="Picture 24" descr="Phase 2 - Brushy Creek MUD">
            <a:extLst>
              <a:ext uri="{FF2B5EF4-FFF2-40B4-BE49-F238E27FC236}">
                <a16:creationId xmlns:a16="http://schemas.microsoft.com/office/drawing/2014/main" id="{740C673C-4585-33E1-76AE-F30A4D502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976" y="2720872"/>
            <a:ext cx="1513518" cy="1391084"/>
          </a:xfrm>
          <a:prstGeom prst="rect">
            <a:avLst/>
          </a:prstGeom>
        </p:spPr>
      </p:pic>
      <p:pic>
        <p:nvPicPr>
          <p:cNvPr id="26" name="Picture 25" descr="Phase 3 - Brushy Creek MUD">
            <a:extLst>
              <a:ext uri="{FF2B5EF4-FFF2-40B4-BE49-F238E27FC236}">
                <a16:creationId xmlns:a16="http://schemas.microsoft.com/office/drawing/2014/main" id="{C24A2511-8C47-7678-7534-B9DA15914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89" y="2644588"/>
            <a:ext cx="1493708" cy="1493708"/>
          </a:xfrm>
          <a:prstGeom prst="rect">
            <a:avLst/>
          </a:prstGeom>
        </p:spPr>
      </p:pic>
      <p:pic>
        <p:nvPicPr>
          <p:cNvPr id="27" name="Picture 26" descr="Phase 4 badge">
            <a:extLst>
              <a:ext uri="{FF2B5EF4-FFF2-40B4-BE49-F238E27FC236}">
                <a16:creationId xmlns:a16="http://schemas.microsoft.com/office/drawing/2014/main" id="{C9C8224A-2C01-CCD3-6455-D161B4AFB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250" y="2620347"/>
            <a:ext cx="1491609" cy="1491609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A365D942-DE36-8DFD-25A1-B886DF0F5EB6}"/>
              </a:ext>
            </a:extLst>
          </p:cNvPr>
          <p:cNvSpPr/>
          <p:nvPr/>
        </p:nvSpPr>
        <p:spPr>
          <a:xfrm>
            <a:off x="3120059" y="3183271"/>
            <a:ext cx="949917" cy="36576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highlight>
                <a:srgbClr val="FFFF00"/>
              </a:highlight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AAC4294-7FFF-8401-5DDC-82103DCA1497}"/>
              </a:ext>
            </a:extLst>
          </p:cNvPr>
          <p:cNvSpPr/>
          <p:nvPr/>
        </p:nvSpPr>
        <p:spPr>
          <a:xfrm>
            <a:off x="5657072" y="3183271"/>
            <a:ext cx="949917" cy="36576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highlight>
                <a:srgbClr val="FFFF00"/>
              </a:highlight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A9FF4E9-5EDA-4C63-D877-D3448C156266}"/>
              </a:ext>
            </a:extLst>
          </p:cNvPr>
          <p:cNvSpPr/>
          <p:nvPr/>
        </p:nvSpPr>
        <p:spPr>
          <a:xfrm>
            <a:off x="8204959" y="3183271"/>
            <a:ext cx="949917" cy="36576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79562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D9B2871D-69F7-469E-77E1-54AA91E09318}"/>
              </a:ext>
            </a:extLst>
          </p:cNvPr>
          <p:cNvSpPr txBox="1"/>
          <p:nvPr/>
        </p:nvSpPr>
        <p:spPr>
          <a:xfrm>
            <a:off x="742045" y="3897073"/>
            <a:ext cx="11010683" cy="2366682"/>
          </a:xfrm>
          <a:prstGeom prst="rect">
            <a:avLst/>
          </a:prstGeom>
          <a:solidFill>
            <a:schemeClr val="accent2">
              <a:alpha val="40000"/>
            </a:schemeClr>
          </a:solidFill>
        </p:spPr>
        <p:txBody>
          <a:bodyPr wrap="square" rtlCol="0">
            <a:spAutoFit/>
          </a:bodyPr>
          <a:lstStyle/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630" y="298794"/>
            <a:ext cx="10292739" cy="1069848"/>
          </a:xfrm>
        </p:spPr>
        <p:txBody>
          <a:bodyPr/>
          <a:lstStyle/>
          <a:p>
            <a:pPr algn="ctr"/>
            <a:r>
              <a:rPr lang="en-US" dirty="0"/>
              <a:t>Managing Operational Risks &amp; Recommendations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+mj-lt"/>
              </a:rPr>
              <a:t>12</a:t>
            </a:fld>
            <a:endParaRPr lang="en-US" dirty="0">
              <a:latin typeface="+mj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501567"/>
            <a:ext cx="5084243" cy="2236716"/>
          </a:xfrm>
          <a:solidFill>
            <a:schemeClr val="accent3">
              <a:lumMod val="25000"/>
              <a:alpha val="7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Potential System Vulnerabilities</a:t>
            </a:r>
          </a:p>
          <a:p>
            <a:r>
              <a:rPr lang="en-US" dirty="0">
                <a:latin typeface="+mj-lt"/>
              </a:rPr>
              <a:t>Performance Decay: Fraud patterns shift rapidly over time, leading to gradual model drift and lower threat detection.</a:t>
            </a:r>
          </a:p>
          <a:p>
            <a:r>
              <a:rPr lang="en-US" dirty="0">
                <a:latin typeface="+mj-lt"/>
              </a:rPr>
              <a:t>False-Positive Spikes: Dynamic changes in retail market actions can cause system alarms on legitimate customer transactions.​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6980BD-0225-0DD6-3D62-B0B1E983AB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7769" y="1470169"/>
            <a:ext cx="5194959" cy="2236716"/>
          </a:xfrm>
          <a:solidFill>
            <a:schemeClr val="accent3">
              <a:lumMod val="25000"/>
              <a:alpha val="7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PH" sz="2400" b="1" dirty="0">
                <a:latin typeface="+mj-lt"/>
              </a:rPr>
              <a:t>Mitigation Framework</a:t>
            </a:r>
            <a:endParaRPr lang="en-AE" sz="2400" b="1" dirty="0">
              <a:latin typeface="+mj-lt"/>
            </a:endParaRPr>
          </a:p>
          <a:p>
            <a:r>
              <a:rPr lang="en-US" dirty="0">
                <a:latin typeface="+mj-lt"/>
              </a:rPr>
              <a:t>Automated Retraining: Set quarterly self-guided training schedules using updated data logs to counter concept drift.</a:t>
            </a:r>
          </a:p>
          <a:p>
            <a:r>
              <a:rPr lang="en-US" dirty="0">
                <a:latin typeface="+mj-lt"/>
              </a:rPr>
              <a:t>Feedback Loops: Connect fraud analyst insights to refine scoring thresholds, keeping the system precise and accurate.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20C990A-47D0-26BF-24F8-6674BF434317}"/>
              </a:ext>
            </a:extLst>
          </p:cNvPr>
          <p:cNvSpPr txBox="1">
            <a:spLocks/>
          </p:cNvSpPr>
          <p:nvPr/>
        </p:nvSpPr>
        <p:spPr>
          <a:xfrm>
            <a:off x="949630" y="4637370"/>
            <a:ext cx="1981198" cy="1219285"/>
          </a:xfrm>
          <a:prstGeom prst="rect">
            <a:avLst/>
          </a:prstGeom>
          <a:solidFill>
            <a:schemeClr val="accent3">
              <a:lumMod val="25000"/>
              <a:alpha val="3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Adopt Random Forest as the fraud detection model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051CCC7-65E0-7817-B7C6-9028419C71FF}"/>
              </a:ext>
            </a:extLst>
          </p:cNvPr>
          <p:cNvSpPr txBox="1">
            <a:spLocks/>
          </p:cNvSpPr>
          <p:nvPr/>
        </p:nvSpPr>
        <p:spPr>
          <a:xfrm>
            <a:off x="4373640" y="4005943"/>
            <a:ext cx="3747491" cy="44643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/>
          <a:lstStyle>
            <a:lvl1pPr marL="228600" indent="-3474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H" dirty="0">
                <a:latin typeface="+mj-lt"/>
              </a:rPr>
              <a:t>Strategic Action Plans</a:t>
            </a:r>
            <a:endParaRPr lang="en-AE" dirty="0">
              <a:latin typeface="+mj-lt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6D9A642-78C6-346F-0239-3EA02FB89D9F}"/>
              </a:ext>
            </a:extLst>
          </p:cNvPr>
          <p:cNvSpPr txBox="1">
            <a:spLocks/>
          </p:cNvSpPr>
          <p:nvPr/>
        </p:nvSpPr>
        <p:spPr>
          <a:xfrm>
            <a:off x="3074520" y="4647796"/>
            <a:ext cx="1958428" cy="1208859"/>
          </a:xfrm>
          <a:prstGeom prst="rect">
            <a:avLst/>
          </a:prstGeom>
          <a:solidFill>
            <a:schemeClr val="accent3">
              <a:lumMod val="25000"/>
              <a:alpha val="3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Proceed with API deployment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93EA7D7E-908F-5B72-91B2-E869E4AA3CFF}"/>
              </a:ext>
            </a:extLst>
          </p:cNvPr>
          <p:cNvSpPr txBox="1">
            <a:spLocks/>
          </p:cNvSpPr>
          <p:nvPr/>
        </p:nvSpPr>
        <p:spPr>
          <a:xfrm>
            <a:off x="5176640" y="4622363"/>
            <a:ext cx="1981198" cy="1234292"/>
          </a:xfrm>
          <a:prstGeom prst="rect">
            <a:avLst/>
          </a:prstGeom>
          <a:solidFill>
            <a:schemeClr val="accent3">
              <a:lumMod val="25000"/>
              <a:alpha val="3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Implement monitoring and retraining schedule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580E74A4-8D31-4BF7-F23F-2883DEE7F781}"/>
              </a:ext>
            </a:extLst>
          </p:cNvPr>
          <p:cNvSpPr txBox="1">
            <a:spLocks/>
          </p:cNvSpPr>
          <p:nvPr/>
        </p:nvSpPr>
        <p:spPr>
          <a:xfrm>
            <a:off x="7387676" y="4629866"/>
            <a:ext cx="1965417" cy="1234292"/>
          </a:xfrm>
          <a:prstGeom prst="rect">
            <a:avLst/>
          </a:prstGeom>
          <a:solidFill>
            <a:schemeClr val="accent3">
              <a:lumMod val="25000"/>
              <a:alpha val="3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Use explainability tools for compliance and audit support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A4B2ED6-AEC8-2AC5-24B9-2214BD1C045B}"/>
              </a:ext>
            </a:extLst>
          </p:cNvPr>
          <p:cNvSpPr txBox="1">
            <a:spLocks/>
          </p:cNvSpPr>
          <p:nvPr/>
        </p:nvSpPr>
        <p:spPr>
          <a:xfrm>
            <a:off x="9484537" y="4622362"/>
            <a:ext cx="1965418" cy="1234293"/>
          </a:xfrm>
          <a:prstGeom prst="rect">
            <a:avLst/>
          </a:prstGeom>
          <a:solidFill>
            <a:schemeClr val="accent3">
              <a:lumMod val="25000"/>
              <a:alpha val="3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Use explainability tools for compliance and audit support</a:t>
            </a: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367</TotalTime>
  <Words>824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Segoe UI Light</vt:lpstr>
      <vt:lpstr>Tw Cen MT</vt:lpstr>
      <vt:lpstr>Office Theme</vt:lpstr>
      <vt:lpstr>AI‑DRIVEN CREDIT CARD FRAUD DETECTION  A Modern Strategy for Reducing Financial Risk and Strengthening Customer Trust</vt:lpstr>
      <vt:lpstr>The Escalating Fraud Challenge</vt:lpstr>
      <vt:lpstr>Target Objective &amp; Strategic Goals </vt:lpstr>
      <vt:lpstr>PowerPoint Presentation</vt:lpstr>
      <vt:lpstr>AI-Driven Detection Strategy</vt:lpstr>
      <vt:lpstr>Exploratory Data Insights</vt:lpstr>
      <vt:lpstr>Model Benchmarking Performance</vt:lpstr>
      <vt:lpstr>The Optimal Production Choice  </vt:lpstr>
      <vt:lpstr>Deliver Real-World Business Value</vt:lpstr>
      <vt:lpstr>Ethical AI &amp; Fairness </vt:lpstr>
      <vt:lpstr>Systematic Deployment Roadmap</vt:lpstr>
      <vt:lpstr>Managing Operational Risks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Orlando Pedro Alparce</dc:creator>
  <cp:lastModifiedBy>Orlando Pedro Alparce</cp:lastModifiedBy>
  <cp:revision>10</cp:revision>
  <dcterms:created xsi:type="dcterms:W3CDTF">2026-07-16T09:03:22Z</dcterms:created>
  <dcterms:modified xsi:type="dcterms:W3CDTF">2026-07-16T23:49:38Z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