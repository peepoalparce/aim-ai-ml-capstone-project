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5" r:id="rId2"/>
    <p:sldId id="310" r:id="rId3"/>
    <p:sldId id="320" r:id="rId4"/>
    <p:sldId id="313" r:id="rId5"/>
    <p:sldId id="314" r:id="rId6"/>
    <p:sldId id="315" r:id="rId7"/>
    <p:sldId id="316" r:id="rId8"/>
    <p:sldId id="321" r:id="rId9"/>
    <p:sldId id="318" r:id="rId10"/>
    <p:sldId id="319" r:id="rId11"/>
    <p:sldId id="326" r:id="rId12"/>
    <p:sldId id="328" r:id="rId13"/>
  </p:sldIdLst>
  <p:sldSz cx="12188825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29" autoAdjust="0"/>
  </p:normalViewPr>
  <p:slideViewPr>
    <p:cSldViewPr showGuides="1">
      <p:cViewPr varScale="1">
        <p:scale>
          <a:sx n="107" d="100"/>
          <a:sy n="107" d="100"/>
        </p:scale>
        <p:origin x="1500" y="10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7/17/2026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7/17/2026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7/17/2026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7/17/2026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7/17/2026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7/17/2026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7/17/2026</a:t>
            </a:fld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7/17/2026</a:t>
            </a:fld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7/17/2026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7/17/2026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7/17/2026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7/17/2026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125860" y="1700808"/>
            <a:ext cx="10136086" cy="2808312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/>
              <a:t>AI Credit Card Fraud Detection</a:t>
            </a:r>
            <a:br>
              <a:rPr lang="en-US" sz="4800" dirty="0"/>
            </a:br>
            <a:br>
              <a:rPr lang="en-US" sz="4800" dirty="0"/>
            </a:br>
            <a:r>
              <a:rPr lang="en-US" sz="2400" dirty="0"/>
              <a:t>Technical Capstone Presentation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953291" y="4797152"/>
            <a:ext cx="8629599" cy="1219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TECHINICAL Presentation</a:t>
            </a:r>
          </a:p>
          <a:p>
            <a:endParaRPr lang="en-US" dirty="0"/>
          </a:p>
          <a:p>
            <a:r>
              <a:rPr lang="en-US" dirty="0"/>
              <a:t>Orlando Pedro Z. Alparce</a:t>
            </a:r>
          </a:p>
          <a:p>
            <a:endParaRPr lang="en-US" dirty="0"/>
          </a:p>
          <a:p>
            <a:r>
              <a:rPr lang="en-US" dirty="0"/>
              <a:t>AIM Post Graduate Diploma in Artificial Intelligence and Machine Learning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917949" y="692696"/>
            <a:ext cx="8568952" cy="795536"/>
          </a:xfrm>
        </p:spPr>
        <p:txBody>
          <a:bodyPr>
            <a:normAutofit/>
          </a:bodyPr>
          <a:lstStyle/>
          <a:p>
            <a:r>
              <a:rPr lang="en-US" sz="4000" b="1" dirty="0"/>
              <a:t>OBJECTIVES &amp; PROBLEM FRAMING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413892" y="2276872"/>
            <a:ext cx="4067943" cy="4114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BUSINESS CHALLENGE</a:t>
            </a:r>
          </a:p>
          <a:p>
            <a:r>
              <a:rPr lang="en-AE" sz="2000" dirty="0"/>
              <a:t>Fraudulent transactions impose substantial financial losses on institutions, but also introduce critical customer friction if genuine payments are flagged</a:t>
            </a:r>
          </a:p>
          <a:p>
            <a:r>
              <a:rPr lang="en-AE" sz="2000" b="1" dirty="0"/>
              <a:t>Imbalance Constraints:</a:t>
            </a:r>
            <a:r>
              <a:rPr lang="en-AE" sz="2000" dirty="0"/>
              <a:t> True fraud cases represent a microscopic </a:t>
            </a:r>
            <a:r>
              <a:rPr lang="en-AE" sz="2000" b="1" dirty="0"/>
              <a:t>0.17%</a:t>
            </a:r>
            <a:r>
              <a:rPr lang="en-AE" sz="2000" dirty="0"/>
              <a:t> of overall activity, meaning naive models can achieve high accuracy by simply guessing "non-fraud".</a:t>
            </a:r>
            <a:endParaRPr lang="en-US" sz="2000" dirty="0"/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C88A96BE-9DEB-FAFC-A2FD-FFF93512531E}"/>
              </a:ext>
            </a:extLst>
          </p:cNvPr>
          <p:cNvSpPr txBox="1">
            <a:spLocks/>
          </p:cNvSpPr>
          <p:nvPr/>
        </p:nvSpPr>
        <p:spPr>
          <a:xfrm>
            <a:off x="6692445" y="2276871"/>
            <a:ext cx="4154495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3550" indent="-2317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2190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02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E" sz="2000" dirty="0"/>
              <a:t>DATA SCIENCE PROBLEM</a:t>
            </a:r>
          </a:p>
          <a:p>
            <a:r>
              <a:rPr lang="en-AE" sz="2000" dirty="0"/>
              <a:t>The machine learning objective is to train a model capable of recognizing the elusive, highly-skewed signatures of fraudulent entities without overfitting.</a:t>
            </a:r>
          </a:p>
          <a:p>
            <a:r>
              <a:rPr lang="en-AE" sz="2000" dirty="0"/>
              <a:t>Primary Goal: Build a high-precision framework targeting specific key performance indicators: PRAUC, Recall, Precision, and ROC-AUC.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EDCDE-C22D-A2D7-CCE2-705428CB4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847" y="122318"/>
            <a:ext cx="9144001" cy="1480494"/>
          </a:xfrm>
        </p:spPr>
        <p:txBody>
          <a:bodyPr>
            <a:normAutofit/>
          </a:bodyPr>
          <a:lstStyle/>
          <a:p>
            <a:pPr algn="ctr"/>
            <a:r>
              <a:rPr lang="en-AE" sz="4000" b="1" dirty="0"/>
              <a:t>KAGGLE DATASET SUMMARY</a:t>
            </a:r>
            <a:br>
              <a:rPr lang="en-AE" dirty="0"/>
            </a:br>
            <a:endParaRPr lang="en-A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2A1045-B375-73FC-65C8-56243F7F28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1409801"/>
              </p:ext>
            </p:extLst>
          </p:nvPr>
        </p:nvGraphicFramePr>
        <p:xfrm>
          <a:off x="4828583" y="1667896"/>
          <a:ext cx="5796880" cy="3134999"/>
        </p:xfrm>
        <a:graphic>
          <a:graphicData uri="http://schemas.openxmlformats.org/drawingml/2006/table">
            <a:tbl>
              <a:tblPr/>
              <a:tblGrid>
                <a:gridCol w="987085">
                  <a:extLst>
                    <a:ext uri="{9D8B030D-6E8A-4147-A177-3AD203B41FA5}">
                      <a16:colId xmlns:a16="http://schemas.microsoft.com/office/drawing/2014/main" val="423756717"/>
                    </a:ext>
                  </a:extLst>
                </a:gridCol>
                <a:gridCol w="996058">
                  <a:extLst>
                    <a:ext uri="{9D8B030D-6E8A-4147-A177-3AD203B41FA5}">
                      <a16:colId xmlns:a16="http://schemas.microsoft.com/office/drawing/2014/main" val="3967107697"/>
                    </a:ext>
                  </a:extLst>
                </a:gridCol>
                <a:gridCol w="3813737">
                  <a:extLst>
                    <a:ext uri="{9D8B030D-6E8A-4147-A177-3AD203B41FA5}">
                      <a16:colId xmlns:a16="http://schemas.microsoft.com/office/drawing/2014/main" val="4055219701"/>
                    </a:ext>
                  </a:extLst>
                </a:gridCol>
              </a:tblGrid>
              <a:tr h="60511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Variable</a:t>
                      </a:r>
                      <a:endParaRPr lang="en-AE" sz="1800" dirty="0">
                        <a:effectLst/>
                      </a:endParaRPr>
                    </a:p>
                  </a:txBody>
                  <a:tcPr marL="35505" marR="35505" marT="15216" marB="1521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Type</a:t>
                      </a:r>
                      <a:endParaRPr lang="en-AE" sz="1800" dirty="0">
                        <a:effectLst/>
                      </a:endParaRPr>
                    </a:p>
                  </a:txBody>
                  <a:tcPr marL="35505" marR="35505" marT="15216" marB="1521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Description</a:t>
                      </a:r>
                      <a:endParaRPr lang="en-AE" sz="1800" dirty="0">
                        <a:effectLst/>
                      </a:endParaRPr>
                    </a:p>
                  </a:txBody>
                  <a:tcPr marL="35505" marR="35505" marT="15216" marB="1521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025559"/>
                  </a:ext>
                </a:extLst>
              </a:tr>
              <a:tr h="6415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Time</a:t>
                      </a:r>
                      <a:endParaRPr lang="en-AE" sz="1800" dirty="0">
                        <a:effectLst/>
                      </a:endParaRPr>
                    </a:p>
                  </a:txBody>
                  <a:tcPr marL="35505" marR="35505" marT="15216" marB="1521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 dirty="0">
                          <a:solidFill>
                            <a:srgbClr val="06B6D4"/>
                          </a:solidFill>
                          <a:effectLst/>
                          <a:latin typeface="Arial" panose="020B0604020202020204" pitchFamily="34" charset="0"/>
                        </a:rPr>
                        <a:t>Float</a:t>
                      </a:r>
                      <a:endParaRPr lang="en-AE" sz="1800" dirty="0">
                        <a:effectLst/>
                      </a:endParaRPr>
                    </a:p>
                  </a:txBody>
                  <a:tcPr marL="35505" marR="35505" marT="15216" marB="1521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 dirty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Seconds elapsed since first recorded transaction in dataset</a:t>
                      </a:r>
                      <a:endParaRPr lang="en-AE" sz="1800" dirty="0">
                        <a:effectLst/>
                      </a:endParaRPr>
                    </a:p>
                  </a:txBody>
                  <a:tcPr marL="35505" marR="35505" marT="15216" marB="1521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795196"/>
                  </a:ext>
                </a:extLst>
              </a:tr>
              <a:tr h="60511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Amount</a:t>
                      </a:r>
                      <a:endParaRPr lang="en-AE" sz="1800" dirty="0">
                        <a:effectLst/>
                      </a:endParaRPr>
                    </a:p>
                  </a:txBody>
                  <a:tcPr marL="35505" marR="35505" marT="15216" marB="1521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 dirty="0">
                          <a:solidFill>
                            <a:srgbClr val="06B6D4"/>
                          </a:solidFill>
                          <a:effectLst/>
                          <a:latin typeface="Arial" panose="020B0604020202020204" pitchFamily="34" charset="0"/>
                        </a:rPr>
                        <a:t>Float</a:t>
                      </a:r>
                      <a:endParaRPr lang="en-AE" sz="1800" dirty="0">
                        <a:effectLst/>
                      </a:endParaRPr>
                    </a:p>
                  </a:txBody>
                  <a:tcPr marL="35505" marR="35505" marT="15216" marB="1521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 dirty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Transaction value in fiat currency units</a:t>
                      </a:r>
                      <a:endParaRPr lang="en-AE" sz="1800" dirty="0">
                        <a:effectLst/>
                      </a:endParaRPr>
                    </a:p>
                  </a:txBody>
                  <a:tcPr marL="35505" marR="35505" marT="15216" marB="1521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431315"/>
                  </a:ext>
                </a:extLst>
              </a:tr>
              <a:tr h="6415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V1 – V28</a:t>
                      </a:r>
                      <a:endParaRPr lang="en-AE" sz="1800" dirty="0">
                        <a:effectLst/>
                      </a:endParaRPr>
                    </a:p>
                  </a:txBody>
                  <a:tcPr marL="35505" marR="35505" marT="15216" marB="1521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 dirty="0">
                          <a:solidFill>
                            <a:srgbClr val="06B6D4"/>
                          </a:solidFill>
                          <a:effectLst/>
                          <a:latin typeface="Arial" panose="020B0604020202020204" pitchFamily="34" charset="0"/>
                        </a:rPr>
                        <a:t>Float</a:t>
                      </a:r>
                      <a:endParaRPr lang="en-AE" sz="1800" dirty="0">
                        <a:effectLst/>
                      </a:endParaRPr>
                    </a:p>
                  </a:txBody>
                  <a:tcPr marL="35505" marR="35505" marT="15216" marB="1521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 dirty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Anonymized PCA components safeguarding customer privacy</a:t>
                      </a:r>
                      <a:endParaRPr lang="en-AE" sz="1800" dirty="0">
                        <a:effectLst/>
                      </a:endParaRPr>
                    </a:p>
                  </a:txBody>
                  <a:tcPr marL="35505" marR="35505" marT="15216" marB="1521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718931"/>
                  </a:ext>
                </a:extLst>
              </a:tr>
              <a:tr h="6415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Class</a:t>
                      </a:r>
                      <a:endParaRPr lang="en-AE" sz="1800" dirty="0">
                        <a:effectLst/>
                      </a:endParaRPr>
                    </a:p>
                  </a:txBody>
                  <a:tcPr marL="35505" marR="35505" marT="15216" marB="1521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 dirty="0">
                          <a:solidFill>
                            <a:srgbClr val="06B6D4"/>
                          </a:solidFill>
                          <a:effectLst/>
                          <a:latin typeface="Arial" panose="020B0604020202020204" pitchFamily="34" charset="0"/>
                        </a:rPr>
                        <a:t>Integer</a:t>
                      </a:r>
                      <a:endParaRPr lang="en-AE" sz="1800" dirty="0">
                        <a:effectLst/>
                      </a:endParaRPr>
                    </a:p>
                  </a:txBody>
                  <a:tcPr marL="35505" marR="35505" marT="15216" marB="1521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 dirty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Target Variable (0 = Non-Fraud, 1 = Fraud)</a:t>
                      </a:r>
                      <a:endParaRPr lang="en-AE" sz="1800" dirty="0">
                        <a:effectLst/>
                      </a:endParaRPr>
                    </a:p>
                  </a:txBody>
                  <a:tcPr marL="35505" marR="35505" marT="15216" marB="1521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418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36B06C5-24D5-9AAD-6474-4BEEE0AADEEC}"/>
              </a:ext>
            </a:extLst>
          </p:cNvPr>
          <p:cNvSpPr txBox="1"/>
          <p:nvPr/>
        </p:nvSpPr>
        <p:spPr>
          <a:xfrm>
            <a:off x="1019005" y="1655077"/>
            <a:ext cx="28291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AE" sz="2000" b="1" i="0" u="none" strike="noStrike" dirty="0">
                <a:effectLst/>
                <a:latin typeface="+mj-lt"/>
              </a:rPr>
              <a:t>TOTAL OBSERVATIONS</a:t>
            </a:r>
            <a:endParaRPr lang="en-AE" sz="2000" b="0" dirty="0">
              <a:effectLst/>
              <a:latin typeface="+mj-lt"/>
            </a:endParaRPr>
          </a:p>
          <a:p>
            <a:pPr>
              <a:buNone/>
            </a:pPr>
            <a:br>
              <a:rPr lang="en-AE" dirty="0"/>
            </a:br>
            <a:endParaRPr lang="en-A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41F0D4-8A8B-9F4A-D00C-A49C2C168B61}"/>
              </a:ext>
            </a:extLst>
          </p:cNvPr>
          <p:cNvSpPr txBox="1"/>
          <p:nvPr/>
        </p:nvSpPr>
        <p:spPr>
          <a:xfrm>
            <a:off x="1072085" y="1999385"/>
            <a:ext cx="324036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AE" sz="2100" b="1" i="0" u="none" strike="noStrike" dirty="0">
                <a:effectLst/>
                <a:latin typeface="Inter"/>
              </a:rPr>
              <a:t>284,807 Transactions</a:t>
            </a:r>
            <a:endParaRPr lang="en-AE" b="0" dirty="0">
              <a:effectLst/>
            </a:endParaRPr>
          </a:p>
          <a:p>
            <a:pPr>
              <a:buNone/>
            </a:pPr>
            <a:br>
              <a:rPr lang="en-AE" dirty="0"/>
            </a:br>
            <a:endParaRPr lang="en-A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D17B98-84E8-69A1-53F7-62958B179297}"/>
              </a:ext>
            </a:extLst>
          </p:cNvPr>
          <p:cNvSpPr txBox="1"/>
          <p:nvPr/>
        </p:nvSpPr>
        <p:spPr>
          <a:xfrm>
            <a:off x="1035855" y="3517868"/>
            <a:ext cx="237327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AE" sz="2000" b="1" i="0" u="none" strike="noStrike" dirty="0">
                <a:effectLst/>
                <a:latin typeface="+mj-lt"/>
              </a:rPr>
              <a:t>492 Cases (0.173%)</a:t>
            </a:r>
            <a:endParaRPr lang="en-AE" sz="2000" b="0" dirty="0">
              <a:effectLst/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99CDE6-8754-F4C6-4595-D7CE78EC22D8}"/>
              </a:ext>
            </a:extLst>
          </p:cNvPr>
          <p:cNvSpPr txBox="1"/>
          <p:nvPr/>
        </p:nvSpPr>
        <p:spPr>
          <a:xfrm>
            <a:off x="1019005" y="3235396"/>
            <a:ext cx="3168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AE" sz="2000" b="1" dirty="0"/>
              <a:t>IDENTIFIED FRAUD CASES</a:t>
            </a:r>
            <a:endParaRPr lang="en-AE" sz="2000" b="0" dirty="0">
              <a:effectLst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B7FEFB-A262-4FBB-3588-C9DDF9811DDD}"/>
              </a:ext>
            </a:extLst>
          </p:cNvPr>
          <p:cNvSpPr txBox="1"/>
          <p:nvPr/>
        </p:nvSpPr>
        <p:spPr>
          <a:xfrm>
            <a:off x="1062041" y="502152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AE" sz="2000" b="1" i="0" u="none" strike="noStrike" dirty="0">
                <a:effectLst/>
                <a:latin typeface="+mj-lt"/>
              </a:rPr>
              <a:t>0</a:t>
            </a:r>
            <a:r>
              <a:rPr lang="en-AE" sz="2000" b="0" i="0" u="none" strike="noStrike" dirty="0">
                <a:effectLst/>
                <a:latin typeface="+mj-lt"/>
              </a:rPr>
              <a:t> missing values detected. </a:t>
            </a:r>
            <a:r>
              <a:rPr lang="en-AE" sz="2000" b="1" i="0" u="none" strike="noStrike" dirty="0">
                <a:effectLst/>
                <a:latin typeface="+mj-lt"/>
              </a:rPr>
              <a:t>1,081</a:t>
            </a:r>
            <a:r>
              <a:rPr lang="en-AE" sz="2000" b="0" i="0" u="none" strike="noStrike" dirty="0">
                <a:effectLst/>
                <a:latin typeface="+mj-lt"/>
              </a:rPr>
              <a:t> duplicates isolated and removed during standard ingestion preprocessing.</a:t>
            </a:r>
            <a:endParaRPr lang="en-AE" sz="2000" b="0" dirty="0">
              <a:effectLst/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671E56-E8BA-DEE8-FBBF-BC8E149C02FE}"/>
              </a:ext>
            </a:extLst>
          </p:cNvPr>
          <p:cNvSpPr txBox="1"/>
          <p:nvPr/>
        </p:nvSpPr>
        <p:spPr>
          <a:xfrm>
            <a:off x="1045400" y="4736505"/>
            <a:ext cx="20162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AE" sz="2000" b="1" i="0" u="none" strike="noStrike" dirty="0">
                <a:effectLst/>
                <a:latin typeface="+mj-lt"/>
              </a:rPr>
              <a:t>DATA HYGIENE</a:t>
            </a:r>
            <a:endParaRPr lang="en-AE" sz="2000" b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30738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916" y="286500"/>
            <a:ext cx="9144001" cy="1895872"/>
          </a:xfrm>
        </p:spPr>
        <p:txBody>
          <a:bodyPr>
            <a:normAutofit/>
          </a:bodyPr>
          <a:lstStyle/>
          <a:p>
            <a:pPr algn="ctr"/>
            <a:r>
              <a:rPr lang="en-AE" sz="4000" b="1" dirty="0"/>
              <a:t>EXPLORATORY DATA ANALYSIS</a:t>
            </a:r>
            <a:br>
              <a:rPr lang="en-AE" dirty="0"/>
            </a:br>
            <a:br>
              <a:rPr lang="en-AE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7B4767-7CE2-7086-B4D5-8C6266976843}"/>
              </a:ext>
            </a:extLst>
          </p:cNvPr>
          <p:cNvSpPr txBox="1"/>
          <p:nvPr/>
        </p:nvSpPr>
        <p:spPr>
          <a:xfrm>
            <a:off x="4296836" y="1328936"/>
            <a:ext cx="3240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AE" sz="2400" b="1" i="0" u="none" strike="noStrike" dirty="0">
                <a:effectLst/>
                <a:latin typeface="+mj-lt"/>
              </a:rPr>
              <a:t>Key Insights from EDA</a:t>
            </a:r>
            <a:endParaRPr lang="en-AE" sz="2400" b="0" dirty="0">
              <a:effectLst/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0039A-5AD2-7F84-21B2-7AC78643CFB2}"/>
              </a:ext>
            </a:extLst>
          </p:cNvPr>
          <p:cNvSpPr txBox="1"/>
          <p:nvPr/>
        </p:nvSpPr>
        <p:spPr>
          <a:xfrm>
            <a:off x="772972" y="2011096"/>
            <a:ext cx="48783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sz="2000" b="1" i="0" u="none" strike="noStrike" dirty="0">
                <a:effectLst/>
                <a:latin typeface="+mj-lt"/>
              </a:rPr>
              <a:t>Extreme Class Imbalance:</a:t>
            </a:r>
            <a:r>
              <a:rPr lang="en-AE" sz="2000" b="0" i="0" u="none" strike="noStrike" dirty="0">
                <a:effectLst/>
                <a:latin typeface="+mj-lt"/>
              </a:rPr>
              <a:t> Fraud accounts for only 492 cases compared to 284,315 non-fraud.</a:t>
            </a:r>
            <a:endParaRPr lang="en-AE" sz="2000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21DA83-5DF5-6EA7-6F31-6B1A9E3CD7C5}"/>
              </a:ext>
            </a:extLst>
          </p:cNvPr>
          <p:cNvSpPr txBox="1"/>
          <p:nvPr/>
        </p:nvSpPr>
        <p:spPr>
          <a:xfrm>
            <a:off x="793610" y="3343922"/>
            <a:ext cx="50031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sz="2000" b="1" i="0" u="none" strike="noStrike" dirty="0">
                <a:effectLst/>
                <a:latin typeface="+mj-lt"/>
              </a:rPr>
              <a:t>Amount Skewness:</a:t>
            </a:r>
            <a:r>
              <a:rPr lang="en-AE" sz="2000" b="0" i="0" u="none" strike="noStrike" dirty="0">
                <a:effectLst/>
                <a:latin typeface="+mj-lt"/>
              </a:rPr>
              <a:t> </a:t>
            </a:r>
            <a:r>
              <a:rPr lang="en-AE" sz="2000" dirty="0"/>
              <a:t>Transaction values are heavily right-skewed, requiring logarithmic transformation or feature scaling.</a:t>
            </a:r>
            <a:endParaRPr lang="en-AE" sz="2000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887A6E-BDDB-4B48-0AD2-D680066E60C0}"/>
              </a:ext>
            </a:extLst>
          </p:cNvPr>
          <p:cNvSpPr txBox="1"/>
          <p:nvPr/>
        </p:nvSpPr>
        <p:spPr>
          <a:xfrm>
            <a:off x="826795" y="4668164"/>
            <a:ext cx="48245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sz="2000" b="1" i="0" u="none" strike="noStrike" dirty="0">
                <a:effectLst/>
                <a:latin typeface="+mj-lt"/>
              </a:rPr>
              <a:t>Feature Interaction:</a:t>
            </a:r>
            <a:r>
              <a:rPr lang="en-AE" sz="2000" b="0" i="0" u="none" strike="noStrike" dirty="0">
                <a:effectLst/>
                <a:latin typeface="+mj-lt"/>
              </a:rPr>
              <a:t> Anonymized PCA components showcase complex non-linear separability.</a:t>
            </a:r>
            <a:endParaRPr lang="en-AE" sz="2000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FC26E4-67FB-A707-5A72-B5917D157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016" y="1990066"/>
            <a:ext cx="5505989" cy="398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8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916" y="548680"/>
            <a:ext cx="8687333" cy="1122394"/>
          </a:xfrm>
        </p:spPr>
        <p:txBody>
          <a:bodyPr>
            <a:noAutofit/>
          </a:bodyPr>
          <a:lstStyle/>
          <a:p>
            <a:pPr algn="ctr"/>
            <a:r>
              <a:rPr lang="en-AE" sz="4000" b="1" dirty="0">
                <a:solidFill>
                  <a:schemeClr val="tx1"/>
                </a:solidFill>
              </a:rPr>
              <a:t>Feature Engineering Strategy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1A52EC0-52E4-EDFE-3433-396B5E5CFCD1}"/>
              </a:ext>
            </a:extLst>
          </p:cNvPr>
          <p:cNvSpPr/>
          <p:nvPr/>
        </p:nvSpPr>
        <p:spPr>
          <a:xfrm>
            <a:off x="693812" y="2924944"/>
            <a:ext cx="3168352" cy="2484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E" dirty="0">
                <a:solidFill>
                  <a:schemeClr val="bg1"/>
                </a:solidFill>
              </a:rPr>
              <a:t>Introduced Log Amount scaling using mathematical transformations to normalize skewed dollar values:</a:t>
            </a:r>
          </a:p>
          <a:p>
            <a:endParaRPr lang="en-AE" dirty="0"/>
          </a:p>
          <a:p>
            <a:endParaRPr lang="en-AE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8C38EF-E88E-872D-BD0F-4109890C50AD}"/>
              </a:ext>
            </a:extLst>
          </p:cNvPr>
          <p:cNvSpPr/>
          <p:nvPr/>
        </p:nvSpPr>
        <p:spPr>
          <a:xfrm>
            <a:off x="4654842" y="2927829"/>
            <a:ext cx="3096344" cy="24813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E" dirty="0">
                <a:solidFill>
                  <a:schemeClr val="bg1"/>
                </a:solidFill>
              </a:rPr>
              <a:t>Created categorical heuristics signalling high transaction tiers:</a:t>
            </a:r>
          </a:p>
          <a:p>
            <a:endParaRPr lang="en-AE" dirty="0"/>
          </a:p>
          <a:p>
            <a:endParaRPr lang="en-AE" dirty="0"/>
          </a:p>
          <a:p>
            <a:endParaRPr lang="en-AE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A13B27-6F28-3E45-707D-BCD4599BD433}"/>
              </a:ext>
            </a:extLst>
          </p:cNvPr>
          <p:cNvSpPr/>
          <p:nvPr/>
        </p:nvSpPr>
        <p:spPr>
          <a:xfrm>
            <a:off x="8614692" y="2960949"/>
            <a:ext cx="3096344" cy="24482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E" dirty="0">
                <a:solidFill>
                  <a:schemeClr val="bg1"/>
                </a:solidFill>
              </a:rPr>
              <a:t>Applied tree-based model features thresholder by median model support to reduce dimensionality.</a:t>
            </a:r>
          </a:p>
          <a:p>
            <a:endParaRPr lang="en-AE" dirty="0">
              <a:solidFill>
                <a:schemeClr val="bg1"/>
              </a:solidFill>
            </a:endParaRPr>
          </a:p>
          <a:p>
            <a:endParaRPr lang="en-AE" dirty="0"/>
          </a:p>
          <a:p>
            <a:br>
              <a:rPr lang="en-AE" dirty="0"/>
            </a:br>
            <a:endParaRPr lang="en-AE" dirty="0"/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E8E1A425-D084-8633-430F-D3CC32817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28" y="4764384"/>
            <a:ext cx="2514600" cy="219075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00F4C26-A81A-D7A3-B7CB-46AE1A99D446}"/>
              </a:ext>
            </a:extLst>
          </p:cNvPr>
          <p:cNvSpPr txBox="1">
            <a:spLocks/>
          </p:cNvSpPr>
          <p:nvPr/>
        </p:nvSpPr>
        <p:spPr>
          <a:xfrm>
            <a:off x="693812" y="2096835"/>
            <a:ext cx="3168351" cy="609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0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E" sz="2400" b="1" dirty="0">
                <a:solidFill>
                  <a:schemeClr val="tx1"/>
                </a:solidFill>
              </a:rPr>
              <a:t>Derived Variables</a:t>
            </a:r>
          </a:p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F61298-5925-EC6F-8696-710321F00DC4}"/>
              </a:ext>
            </a:extLst>
          </p:cNvPr>
          <p:cNvSpPr txBox="1">
            <a:spLocks/>
          </p:cNvSpPr>
          <p:nvPr/>
        </p:nvSpPr>
        <p:spPr>
          <a:xfrm>
            <a:off x="8398668" y="2096835"/>
            <a:ext cx="3312368" cy="4739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0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E" sz="2400" b="1" dirty="0">
                <a:solidFill>
                  <a:schemeClr val="tx1"/>
                </a:solidFill>
              </a:rPr>
              <a:t>Random Forest Selection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9B822B9-AF46-5AE6-7B42-2CCD2FBEFAB3}"/>
              </a:ext>
            </a:extLst>
          </p:cNvPr>
          <p:cNvSpPr txBox="1">
            <a:spLocks/>
          </p:cNvSpPr>
          <p:nvPr/>
        </p:nvSpPr>
        <p:spPr>
          <a:xfrm>
            <a:off x="4497418" y="2096835"/>
            <a:ext cx="3253768" cy="4739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0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E" sz="2400" b="1" dirty="0">
                <a:solidFill>
                  <a:schemeClr val="tx1"/>
                </a:solidFill>
              </a:rPr>
              <a:t>High-Value Flags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5360FC2C-984D-4216-D142-AC0204C15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701" y="4737363"/>
            <a:ext cx="2714625" cy="219075"/>
          </a:xfrm>
          <a:prstGeom prst="rect">
            <a:avLst/>
          </a:prstGeom>
        </p:spPr>
      </p:pic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14B08B3C-3916-734D-9AE8-8E9433753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716" y="4440534"/>
            <a:ext cx="275272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16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1" y="368498"/>
            <a:ext cx="9144001" cy="762000"/>
          </a:xfrm>
        </p:spPr>
        <p:txBody>
          <a:bodyPr>
            <a:normAutofit/>
          </a:bodyPr>
          <a:lstStyle/>
          <a:p>
            <a:pPr algn="ctr"/>
            <a:r>
              <a:rPr lang="en-AE" sz="4000" b="1" dirty="0"/>
              <a:t>DIMENSIONALITY REDUCTION</a:t>
            </a: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2279" y="1216020"/>
            <a:ext cx="5224265" cy="762000"/>
          </a:xfrm>
        </p:spPr>
        <p:txBody>
          <a:bodyPr/>
          <a:lstStyle/>
          <a:p>
            <a:r>
              <a:rPr lang="en-AE" sz="2400" b="1" dirty="0"/>
              <a:t>Mapping Component Spaces</a:t>
            </a: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2691" y="1928466"/>
            <a:ext cx="5018583" cy="9484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E" sz="2000" b="1" dirty="0"/>
              <a:t>PCA Projection:</a:t>
            </a:r>
            <a:r>
              <a:rPr lang="en-AE" sz="2000" dirty="0"/>
              <a:t> Yields rapid linear separation thresholds, isolating dense central non-fraud zones from peripheral fraud clusters.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3BC4DC-E7C6-A8F8-0DD7-88574E9E8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91" y="2996952"/>
            <a:ext cx="4555699" cy="3234457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3EB422C-3110-8697-49F0-6AA41AE27A7E}"/>
              </a:ext>
            </a:extLst>
          </p:cNvPr>
          <p:cNvSpPr txBox="1">
            <a:spLocks/>
          </p:cNvSpPr>
          <p:nvPr/>
        </p:nvSpPr>
        <p:spPr>
          <a:xfrm>
            <a:off x="5984084" y="1932421"/>
            <a:ext cx="5366911" cy="948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3550" indent="-2317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2625" indent="-21907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4625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02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80744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54480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28216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E" sz="2000" b="1" dirty="0"/>
              <a:t>t-SNE Projection:</a:t>
            </a:r>
            <a:r>
              <a:rPr lang="en-AE" sz="2000" dirty="0"/>
              <a:t> Maps non-linear manifold spaces. This visual separation informs the reliance on robust tree ensemble pipelines.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D25A54-76D2-EDEE-49EE-133A6DAC6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1" y="2996952"/>
            <a:ext cx="4838255" cy="323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2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50" y="897311"/>
            <a:ext cx="9144001" cy="704355"/>
          </a:xfrm>
        </p:spPr>
        <p:txBody>
          <a:bodyPr>
            <a:normAutofit/>
          </a:bodyPr>
          <a:lstStyle/>
          <a:p>
            <a:pPr algn="ctr"/>
            <a:r>
              <a:rPr lang="en-AE" sz="4000" b="1" dirty="0"/>
              <a:t>MACHINE LEARNING PIPELINE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AFF16-6EDC-E53B-BBE8-4AED28707A2F}"/>
              </a:ext>
            </a:extLst>
          </p:cNvPr>
          <p:cNvSpPr txBox="1"/>
          <p:nvPr/>
        </p:nvSpPr>
        <p:spPr>
          <a:xfrm>
            <a:off x="215388" y="3315356"/>
            <a:ext cx="27363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E" b="1" dirty="0"/>
              <a:t>Stratified Split</a:t>
            </a:r>
          </a:p>
          <a:p>
            <a:endParaRPr lang="en-AE" dirty="0"/>
          </a:p>
          <a:p>
            <a:r>
              <a:rPr lang="en-AE" dirty="0"/>
              <a:t>80-20 partition maintaining exact minority class balance across test frameworks.</a:t>
            </a:r>
          </a:p>
          <a:p>
            <a:br>
              <a:rPr lang="en-AE" dirty="0"/>
            </a:b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B7FDDC-BB4A-FBC2-EF97-76BDE5E61870}"/>
              </a:ext>
            </a:extLst>
          </p:cNvPr>
          <p:cNvSpPr txBox="1"/>
          <p:nvPr/>
        </p:nvSpPr>
        <p:spPr>
          <a:xfrm>
            <a:off x="3028999" y="3337134"/>
            <a:ext cx="31683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E" b="1" dirty="0"/>
              <a:t>SMOTE Ingestion</a:t>
            </a:r>
          </a:p>
          <a:p>
            <a:endParaRPr lang="en-AE" b="1" dirty="0">
              <a:solidFill>
                <a:srgbClr val="0F172A"/>
              </a:solidFill>
              <a:latin typeface="Poppins"/>
            </a:endParaRPr>
          </a:p>
          <a:p>
            <a:r>
              <a:rPr lang="en-AE" b="1" dirty="0">
                <a:solidFill>
                  <a:srgbClr val="0F172A"/>
                </a:solidFill>
                <a:latin typeface="Poppins"/>
              </a:rPr>
              <a:t> </a:t>
            </a:r>
            <a:r>
              <a:rPr lang="en-AE" dirty="0"/>
              <a:t>Synthetically balanced oversampling applied solely inside training splits to prevent leakage.</a:t>
            </a:r>
            <a:br>
              <a:rPr lang="en-AE" dirty="0"/>
            </a:br>
            <a:endParaRPr lang="en-A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9DFE41-2EEE-4D80-CDDC-9E9C80E6133D}"/>
              </a:ext>
            </a:extLst>
          </p:cNvPr>
          <p:cNvSpPr txBox="1"/>
          <p:nvPr/>
        </p:nvSpPr>
        <p:spPr>
          <a:xfrm>
            <a:off x="6090255" y="3340447"/>
            <a:ext cx="31683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AE" b="1" i="0" u="none" strike="noStrike" dirty="0">
                <a:effectLst/>
                <a:latin typeface="+mj-lt"/>
              </a:rPr>
              <a:t>Feature Selection</a:t>
            </a:r>
          </a:p>
          <a:p>
            <a:pPr algn="ctr" rtl="0">
              <a:buNone/>
            </a:pPr>
            <a:endParaRPr lang="en-AE" b="1" dirty="0">
              <a:latin typeface="+mj-lt"/>
            </a:endParaRPr>
          </a:p>
          <a:p>
            <a:r>
              <a:rPr lang="en-AE" dirty="0">
                <a:latin typeface="+mj-lt"/>
              </a:rPr>
              <a:t>Standardized scaling applied to Time/Amount; </a:t>
            </a:r>
            <a:r>
              <a:rPr lang="en-AE" dirty="0" err="1">
                <a:latin typeface="+mj-lt"/>
              </a:rPr>
              <a:t>SelectFromModel</a:t>
            </a:r>
            <a:r>
              <a:rPr lang="en-AE" dirty="0">
                <a:latin typeface="+mj-lt"/>
              </a:rPr>
              <a:t> selects top features.</a:t>
            </a:r>
          </a:p>
          <a:p>
            <a:br>
              <a:rPr lang="en-AE" dirty="0"/>
            </a:br>
            <a:endParaRPr lang="en-AE" b="0" dirty="0">
              <a:effectLst/>
            </a:endParaRPr>
          </a:p>
          <a:p>
            <a:pPr>
              <a:buNone/>
            </a:pPr>
            <a:br>
              <a:rPr lang="en-AE" dirty="0"/>
            </a:br>
            <a:endParaRPr lang="en-A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643C0D-4C07-DE90-5397-298B9D3DFD50}"/>
              </a:ext>
            </a:extLst>
          </p:cNvPr>
          <p:cNvSpPr txBox="1"/>
          <p:nvPr/>
        </p:nvSpPr>
        <p:spPr>
          <a:xfrm>
            <a:off x="9302346" y="3315356"/>
            <a:ext cx="268707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E" b="1" dirty="0">
                <a:latin typeface="+mj-lt"/>
              </a:rPr>
              <a:t>Model Search</a:t>
            </a:r>
          </a:p>
          <a:p>
            <a:endParaRPr lang="en-AE" b="1" dirty="0">
              <a:latin typeface="+mj-lt"/>
            </a:endParaRPr>
          </a:p>
          <a:p>
            <a:r>
              <a:rPr lang="en-AE" b="0" i="0" u="none" strike="noStrike" dirty="0">
                <a:effectLst/>
                <a:latin typeface="+mj-lt"/>
              </a:rPr>
              <a:t>Logistic Regression, Random Forest, and </a:t>
            </a:r>
            <a:r>
              <a:rPr lang="en-AE" b="0" i="0" u="none" strike="noStrike" dirty="0" err="1">
                <a:effectLst/>
                <a:latin typeface="+mj-lt"/>
              </a:rPr>
              <a:t>XGBoost</a:t>
            </a:r>
            <a:r>
              <a:rPr lang="en-AE" b="0" i="0" u="none" strike="noStrike" dirty="0">
                <a:effectLst/>
                <a:latin typeface="+mj-lt"/>
              </a:rPr>
              <a:t> hyperparameter tuned via </a:t>
            </a:r>
            <a:r>
              <a:rPr lang="en-AE" b="0" i="0" u="none" strike="noStrike" dirty="0" err="1">
                <a:effectLst/>
                <a:latin typeface="+mj-lt"/>
              </a:rPr>
              <a:t>RandomizedSearchCV</a:t>
            </a:r>
            <a:r>
              <a:rPr lang="en-AE" b="0" i="0" u="none" strike="noStrike" dirty="0">
                <a:solidFill>
                  <a:srgbClr val="64748B"/>
                </a:solidFill>
                <a:effectLst/>
                <a:latin typeface="+mj-lt"/>
              </a:rPr>
              <a:t>.</a:t>
            </a:r>
            <a:endParaRPr lang="en-AE" b="0" dirty="0">
              <a:effectLst/>
              <a:latin typeface="+mj-lt"/>
            </a:endParaRPr>
          </a:p>
          <a:p>
            <a:pPr>
              <a:buNone/>
            </a:pPr>
            <a:br>
              <a:rPr lang="en-AE" dirty="0">
                <a:latin typeface="+mj-lt"/>
              </a:rPr>
            </a:br>
            <a:endParaRPr lang="en-AE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CD73CE-4A8E-7D50-D41C-53B919228CDF}"/>
              </a:ext>
            </a:extLst>
          </p:cNvPr>
          <p:cNvSpPr txBox="1"/>
          <p:nvPr/>
        </p:nvSpPr>
        <p:spPr>
          <a:xfrm>
            <a:off x="765820" y="2542312"/>
            <a:ext cx="10657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0" dirty="0">
                <a:effectLst/>
              </a:rPr>
              <a:t> </a:t>
            </a:r>
            <a:endParaRPr lang="en-P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2B93F0-FABD-6781-E750-DA6D27974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48" y="1957098"/>
            <a:ext cx="11707859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0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4E23EA-D7B8-4DFE-1DAA-3FD29D1A2F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413" y="1106269"/>
            <a:ext cx="95405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E" sz="4000" b="1" dirty="0"/>
              <a:t>MODEL PERFORMANCE COMPARISON</a:t>
            </a:r>
            <a:r>
              <a:rPr lang="en-AE" sz="4000" b="0" dirty="0">
                <a:effectLst/>
              </a:rPr>
              <a:t> </a:t>
            </a:r>
            <a:endParaRPr lang="en-AE" sz="4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69F65B-63E6-7B63-AF02-1FAAAB469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165759"/>
              </p:ext>
            </p:extLst>
          </p:nvPr>
        </p:nvGraphicFramePr>
        <p:xfrm>
          <a:off x="1197868" y="2132856"/>
          <a:ext cx="10153129" cy="2778680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val="1349092690"/>
                    </a:ext>
                  </a:extLst>
                </a:gridCol>
                <a:gridCol w="1093850">
                  <a:extLst>
                    <a:ext uri="{9D8B030D-6E8A-4147-A177-3AD203B41FA5}">
                      <a16:colId xmlns:a16="http://schemas.microsoft.com/office/drawing/2014/main" val="2481391874"/>
                    </a:ext>
                  </a:extLst>
                </a:gridCol>
                <a:gridCol w="854427">
                  <a:extLst>
                    <a:ext uri="{9D8B030D-6E8A-4147-A177-3AD203B41FA5}">
                      <a16:colId xmlns:a16="http://schemas.microsoft.com/office/drawing/2014/main" val="3630516266"/>
                    </a:ext>
                  </a:extLst>
                </a:gridCol>
                <a:gridCol w="1008950">
                  <a:extLst>
                    <a:ext uri="{9D8B030D-6E8A-4147-A177-3AD203B41FA5}">
                      <a16:colId xmlns:a16="http://schemas.microsoft.com/office/drawing/2014/main" val="1363575902"/>
                    </a:ext>
                  </a:extLst>
                </a:gridCol>
                <a:gridCol w="1445253">
                  <a:extLst>
                    <a:ext uri="{9D8B030D-6E8A-4147-A177-3AD203B41FA5}">
                      <a16:colId xmlns:a16="http://schemas.microsoft.com/office/drawing/2014/main" val="2733890397"/>
                    </a:ext>
                  </a:extLst>
                </a:gridCol>
                <a:gridCol w="1508881">
                  <a:extLst>
                    <a:ext uri="{9D8B030D-6E8A-4147-A177-3AD203B41FA5}">
                      <a16:colId xmlns:a16="http://schemas.microsoft.com/office/drawing/2014/main" val="1337069665"/>
                    </a:ext>
                  </a:extLst>
                </a:gridCol>
                <a:gridCol w="1099847">
                  <a:extLst>
                    <a:ext uri="{9D8B030D-6E8A-4147-A177-3AD203B41FA5}">
                      <a16:colId xmlns:a16="http://schemas.microsoft.com/office/drawing/2014/main" val="3672888957"/>
                    </a:ext>
                  </a:extLst>
                </a:gridCol>
                <a:gridCol w="981681">
                  <a:extLst>
                    <a:ext uri="{9D8B030D-6E8A-4147-A177-3AD203B41FA5}">
                      <a16:colId xmlns:a16="http://schemas.microsoft.com/office/drawing/2014/main" val="2227518358"/>
                    </a:ext>
                  </a:extLst>
                </a:gridCol>
              </a:tblGrid>
              <a:tr h="69467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0F172A"/>
                          </a:solidFill>
                          <a:effectLst/>
                          <a:latin typeface="+mn-lt"/>
                        </a:rPr>
                        <a:t>Classifier Engine</a:t>
                      </a:r>
                      <a:endParaRPr lang="en-AE" sz="1800" dirty="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0F172A"/>
                          </a:solidFill>
                          <a:effectLst/>
                          <a:latin typeface="+mn-lt"/>
                        </a:rPr>
                        <a:t>Precision</a:t>
                      </a:r>
                      <a:endParaRPr lang="en-AE" sz="1800" dirty="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>
                          <a:solidFill>
                            <a:srgbClr val="0F172A"/>
                          </a:solidFill>
                          <a:effectLst/>
                          <a:latin typeface="+mn-lt"/>
                        </a:rPr>
                        <a:t>Recall</a:t>
                      </a:r>
                      <a:endParaRPr lang="en-AE" sz="180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0F172A"/>
                          </a:solidFill>
                          <a:effectLst/>
                          <a:latin typeface="+mn-lt"/>
                        </a:rPr>
                        <a:t>F1 Score</a:t>
                      </a:r>
                      <a:endParaRPr lang="en-AE" sz="1800" dirty="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0F172A"/>
                          </a:solidFill>
                          <a:effectLst/>
                          <a:latin typeface="+mn-lt"/>
                        </a:rPr>
                        <a:t>False Positives</a:t>
                      </a:r>
                      <a:endParaRPr lang="en-AE" sz="1800" dirty="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0F172A"/>
                          </a:solidFill>
                          <a:effectLst/>
                          <a:latin typeface="+mn-lt"/>
                        </a:rPr>
                        <a:t>False Negatives</a:t>
                      </a:r>
                      <a:endParaRPr lang="en-AE" sz="1800" dirty="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0F172A"/>
                          </a:solidFill>
                          <a:effectLst/>
                          <a:latin typeface="+mn-lt"/>
                        </a:rPr>
                        <a:t>ROC-AUC</a:t>
                      </a:r>
                      <a:endParaRPr lang="en-AE" sz="1800" dirty="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0F172A"/>
                          </a:solidFill>
                          <a:effectLst/>
                          <a:latin typeface="+mn-lt"/>
                        </a:rPr>
                        <a:t>PR-AUC</a:t>
                      </a:r>
                      <a:endParaRPr lang="en-AE" sz="1800" dirty="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045794"/>
                  </a:ext>
                </a:extLst>
              </a:tr>
              <a:tr h="69467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E" sz="1800" b="0" i="0" u="none" strike="noStrike" dirty="0">
                          <a:solidFill>
                            <a:srgbClr val="334155"/>
                          </a:solidFill>
                          <a:effectLst/>
                          <a:latin typeface="+mn-lt"/>
                        </a:rPr>
                        <a:t>Logistic Regression</a:t>
                      </a:r>
                      <a:endParaRPr lang="en-AE" sz="1800" dirty="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 dirty="0">
                          <a:solidFill>
                            <a:srgbClr val="334155"/>
                          </a:solidFill>
                          <a:effectLst/>
                          <a:latin typeface="+mn-lt"/>
                        </a:rPr>
                        <a:t>0.052</a:t>
                      </a:r>
                      <a:endParaRPr lang="en-AE" sz="1800" dirty="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10B981"/>
                          </a:solidFill>
                          <a:effectLst/>
                          <a:latin typeface="+mn-lt"/>
                        </a:rPr>
                        <a:t>0.918</a:t>
                      </a:r>
                      <a:endParaRPr lang="en-AE" sz="1800" dirty="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 dirty="0">
                          <a:solidFill>
                            <a:srgbClr val="334155"/>
                          </a:solidFill>
                          <a:effectLst/>
                          <a:latin typeface="+mn-lt"/>
                        </a:rPr>
                        <a:t>0.099</a:t>
                      </a:r>
                      <a:endParaRPr lang="en-AE" sz="1800" dirty="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>
                          <a:solidFill>
                            <a:srgbClr val="EF4444"/>
                          </a:solidFill>
                          <a:effectLst/>
                          <a:latin typeface="+mn-lt"/>
                        </a:rPr>
                        <a:t>1,630</a:t>
                      </a:r>
                      <a:endParaRPr lang="en-AE" sz="180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>
                          <a:solidFill>
                            <a:srgbClr val="334155"/>
                          </a:solidFill>
                          <a:effectLst/>
                          <a:latin typeface="+mn-lt"/>
                        </a:rPr>
                        <a:t>8</a:t>
                      </a:r>
                      <a:endParaRPr lang="en-AE" sz="180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>
                          <a:solidFill>
                            <a:srgbClr val="334155"/>
                          </a:solidFill>
                          <a:effectLst/>
                          <a:latin typeface="+mn-lt"/>
                        </a:rPr>
                        <a:t>0.972</a:t>
                      </a:r>
                      <a:endParaRPr lang="en-AE" sz="180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>
                          <a:solidFill>
                            <a:srgbClr val="334155"/>
                          </a:solidFill>
                          <a:effectLst/>
                          <a:latin typeface="+mn-lt"/>
                        </a:rPr>
                        <a:t>0.733</a:t>
                      </a:r>
                      <a:endParaRPr lang="en-AE" sz="180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743507"/>
                  </a:ext>
                </a:extLst>
              </a:tr>
              <a:tr h="69467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334155"/>
                          </a:solidFill>
                          <a:effectLst/>
                          <a:latin typeface="+mn-lt"/>
                        </a:rPr>
                        <a:t>Random Forest (Selected)</a:t>
                      </a:r>
                      <a:endParaRPr lang="en-AE" sz="1800" dirty="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0.810</a:t>
                      </a:r>
                      <a:endParaRPr lang="en-AE" sz="1800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0.827</a:t>
                      </a:r>
                      <a:endParaRPr lang="en-AE" sz="1800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0.818</a:t>
                      </a:r>
                      <a:endParaRPr lang="en-AE" sz="1800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19</a:t>
                      </a:r>
                      <a:endParaRPr lang="en-AE" sz="1800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17</a:t>
                      </a:r>
                      <a:endParaRPr lang="en-AE" sz="1800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0.970</a:t>
                      </a:r>
                      <a:endParaRPr lang="en-AE" sz="1800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0.869</a:t>
                      </a:r>
                      <a:endParaRPr lang="en-AE" sz="1800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67463"/>
                  </a:ext>
                </a:extLst>
              </a:tr>
              <a:tr h="69467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AE" sz="1800" b="0" i="0" u="none" strike="noStrike">
                          <a:solidFill>
                            <a:srgbClr val="334155"/>
                          </a:solidFill>
                          <a:effectLst/>
                          <a:latin typeface="+mn-lt"/>
                        </a:rPr>
                        <a:t>XGBoost Classifier</a:t>
                      </a:r>
                      <a:endParaRPr lang="en-AE" sz="180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 dirty="0">
                          <a:solidFill>
                            <a:srgbClr val="334155"/>
                          </a:solidFill>
                          <a:effectLst/>
                          <a:latin typeface="+mn-lt"/>
                        </a:rPr>
                        <a:t>0.237</a:t>
                      </a:r>
                      <a:endParaRPr lang="en-AE" sz="1800" dirty="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>
                          <a:solidFill>
                            <a:srgbClr val="334155"/>
                          </a:solidFill>
                          <a:effectLst/>
                          <a:latin typeface="+mn-lt"/>
                        </a:rPr>
                        <a:t>0.888</a:t>
                      </a:r>
                      <a:endParaRPr lang="en-AE" sz="180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>
                          <a:solidFill>
                            <a:srgbClr val="334155"/>
                          </a:solidFill>
                          <a:effectLst/>
                          <a:latin typeface="+mn-lt"/>
                        </a:rPr>
                        <a:t>0.374</a:t>
                      </a:r>
                      <a:endParaRPr lang="en-AE" sz="180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>
                          <a:solidFill>
                            <a:srgbClr val="334155"/>
                          </a:solidFill>
                          <a:effectLst/>
                          <a:latin typeface="+mn-lt"/>
                        </a:rPr>
                        <a:t>280</a:t>
                      </a:r>
                      <a:endParaRPr lang="en-AE" sz="180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 dirty="0">
                          <a:solidFill>
                            <a:srgbClr val="334155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n-AE" sz="1800" dirty="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1" i="0" u="none" strike="noStrike" dirty="0">
                          <a:solidFill>
                            <a:srgbClr val="10B981"/>
                          </a:solidFill>
                          <a:effectLst/>
                          <a:latin typeface="+mn-lt"/>
                        </a:rPr>
                        <a:t>0.977</a:t>
                      </a:r>
                      <a:endParaRPr lang="en-AE" sz="1800" dirty="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AE" sz="1800" b="0" i="0" u="none" strike="noStrike" dirty="0">
                          <a:solidFill>
                            <a:srgbClr val="334155"/>
                          </a:solidFill>
                          <a:effectLst/>
                          <a:latin typeface="+mn-lt"/>
                        </a:rPr>
                        <a:t>0.854</a:t>
                      </a:r>
                      <a:endParaRPr lang="en-AE" sz="1800" dirty="0">
                        <a:effectLst/>
                        <a:latin typeface="+mn-lt"/>
                      </a:endParaRPr>
                    </a:p>
                  </a:txBody>
                  <a:tcPr marL="57244" marR="57244" marT="24533" marB="2453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2382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E468BDB-C230-8416-1050-322E799B89F9}"/>
              </a:ext>
            </a:extLst>
          </p:cNvPr>
          <p:cNvSpPr txBox="1"/>
          <p:nvPr/>
        </p:nvSpPr>
        <p:spPr>
          <a:xfrm>
            <a:off x="1233872" y="5085184"/>
            <a:ext cx="10081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AE" b="1" i="0" u="none" strike="noStrike" dirty="0">
                <a:effectLst/>
              </a:rPr>
              <a:t>Decision Framework:</a:t>
            </a:r>
            <a:r>
              <a:rPr lang="en-AE" b="0" i="0" u="none" strike="noStrike" dirty="0">
                <a:effectLst/>
              </a:rPr>
              <a:t> Despite having a lower absolute recall than Logistic Regression, the </a:t>
            </a:r>
            <a:r>
              <a:rPr lang="en-AE" b="1" i="0" u="none" strike="noStrike" dirty="0">
                <a:effectLst/>
              </a:rPr>
              <a:t>Random Forest</a:t>
            </a:r>
            <a:r>
              <a:rPr lang="en-AE" b="0" i="0" u="none" strike="noStrike" dirty="0">
                <a:effectLst/>
              </a:rPr>
              <a:t> was prioritized due to its extremely low operational False Positives (19 vs 1,630). This drastically minimizes customer service friction while preserving strong general performance.</a:t>
            </a:r>
            <a:endParaRPr lang="en-AE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5486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60698"/>
            <a:ext cx="9847030" cy="2667000"/>
          </a:xfrm>
        </p:spPr>
        <p:txBody>
          <a:bodyPr/>
          <a:lstStyle/>
          <a:p>
            <a:pPr algn="ctr"/>
            <a:r>
              <a:rPr lang="en-AE" sz="4000" b="1" dirty="0"/>
              <a:t>EXPLAINABILITY</a:t>
            </a:r>
            <a:r>
              <a:rPr lang="en-AE" b="1" dirty="0"/>
              <a:t> &amp; INTERPRETABILITY</a:t>
            </a:r>
            <a:br>
              <a:rPr lang="en-AE" dirty="0"/>
            </a:br>
            <a:br>
              <a:rPr lang="en-AE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AED8D-8BFB-E1A6-81B1-942F8762305E}"/>
              </a:ext>
            </a:extLst>
          </p:cNvPr>
          <p:cNvSpPr/>
          <p:nvPr/>
        </p:nvSpPr>
        <p:spPr>
          <a:xfrm>
            <a:off x="663391" y="3195626"/>
            <a:ext cx="3384374" cy="2667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E" sz="2000" dirty="0">
                <a:solidFill>
                  <a:schemeClr val="bg1"/>
                </a:solidFill>
              </a:rPr>
              <a:t>Identifies global model drivers. The top diagnostic features in fraud identification mapped out consistently as:</a:t>
            </a:r>
          </a:p>
          <a:p>
            <a:endParaRPr lang="en-AE" dirty="0">
              <a:solidFill>
                <a:schemeClr val="bg1"/>
              </a:solidFill>
            </a:endParaRPr>
          </a:p>
          <a:p>
            <a:r>
              <a:rPr lang="en-AE" sz="1600" b="1" dirty="0">
                <a:solidFill>
                  <a:schemeClr val="bg1"/>
                </a:solidFill>
              </a:rPr>
              <a:t>V14, V10, V12, V17, </a:t>
            </a:r>
            <a:r>
              <a:rPr lang="en-AE" sz="1600" b="1" dirty="0" err="1">
                <a:solidFill>
                  <a:schemeClr val="bg1"/>
                </a:solidFill>
              </a:rPr>
              <a:t>Log_Amount</a:t>
            </a:r>
            <a:endParaRPr lang="en-AE" sz="1600" dirty="0">
              <a:solidFill>
                <a:schemeClr val="bg1"/>
              </a:solidFill>
            </a:endParaRPr>
          </a:p>
          <a:p>
            <a:pPr algn="ctr"/>
            <a:endParaRPr lang="en-A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4B2D83-B5EF-DE5D-97B4-561900914F16}"/>
              </a:ext>
            </a:extLst>
          </p:cNvPr>
          <p:cNvSpPr/>
          <p:nvPr/>
        </p:nvSpPr>
        <p:spPr>
          <a:xfrm>
            <a:off x="4523721" y="3247628"/>
            <a:ext cx="3312368" cy="2667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Partial Dependence Plots (PDP) reveal non-linear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paths. A steep probability threshold change was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observed at the boundaries of feature V14.</a:t>
            </a:r>
            <a:endParaRPr lang="en-AE" sz="20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41ACA1-8B1F-A688-771A-435573EB7C7A}"/>
              </a:ext>
            </a:extLst>
          </p:cNvPr>
          <p:cNvSpPr/>
          <p:nvPr/>
        </p:nvSpPr>
        <p:spPr>
          <a:xfrm>
            <a:off x="8393087" y="3284984"/>
            <a:ext cx="3411345" cy="2736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Generates local sparse explanations to trace exact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model decisions for human review boards.</a:t>
            </a:r>
          </a:p>
          <a:p>
            <a:pPr algn="ctr"/>
            <a:endParaRPr lang="en-US" sz="2000" dirty="0">
              <a:solidFill>
                <a:schemeClr val="bg1"/>
              </a:solidFill>
            </a:endParaRPr>
          </a:p>
          <a:p>
            <a:pPr algn="ctr"/>
            <a:endParaRPr lang="en-US" sz="2000" dirty="0">
              <a:solidFill>
                <a:schemeClr val="bg1"/>
              </a:solidFill>
            </a:endParaRPr>
          </a:p>
          <a:p>
            <a:pPr algn="ctr"/>
            <a:endParaRPr lang="en-US" sz="2000" dirty="0">
              <a:solidFill>
                <a:schemeClr val="bg1"/>
              </a:solidFill>
            </a:endParaRPr>
          </a:p>
          <a:p>
            <a:pPr algn="ctr"/>
            <a:endParaRPr lang="en-US" dirty="0"/>
          </a:p>
          <a:p>
            <a:pPr algn="ctr"/>
            <a:endParaRPr lang="en-AE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7B02C0-EE48-3C36-F694-89BDD4E1458F}"/>
              </a:ext>
            </a:extLst>
          </p:cNvPr>
          <p:cNvSpPr txBox="1">
            <a:spLocks/>
          </p:cNvSpPr>
          <p:nvPr/>
        </p:nvSpPr>
        <p:spPr>
          <a:xfrm>
            <a:off x="585802" y="2158044"/>
            <a:ext cx="3168350" cy="12988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 spc="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PH" sz="2400" b="1" dirty="0"/>
              <a:t>Permutation Importance</a:t>
            </a:r>
            <a:br>
              <a:rPr lang="en-AE" dirty="0"/>
            </a:b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793D05-EC52-14AD-3B3B-8C4559E58128}"/>
              </a:ext>
            </a:extLst>
          </p:cNvPr>
          <p:cNvSpPr txBox="1">
            <a:spLocks/>
          </p:cNvSpPr>
          <p:nvPr/>
        </p:nvSpPr>
        <p:spPr>
          <a:xfrm>
            <a:off x="4523721" y="2132857"/>
            <a:ext cx="3312368" cy="15121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 spc="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AE" sz="4000" b="1" dirty="0"/>
          </a:p>
          <a:p>
            <a:pPr algn="ctr"/>
            <a:r>
              <a:rPr lang="en-PH" sz="2400" dirty="0"/>
              <a:t>PDP &amp; ICE Diagnostics</a:t>
            </a:r>
            <a:br>
              <a:rPr lang="en-AE" sz="2400" dirty="0"/>
            </a:br>
            <a:br>
              <a:rPr lang="en-AE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87E184-A9AE-F9AD-2298-D2E435C356FC}"/>
              </a:ext>
            </a:extLst>
          </p:cNvPr>
          <p:cNvSpPr txBox="1">
            <a:spLocks/>
          </p:cNvSpPr>
          <p:nvPr/>
        </p:nvSpPr>
        <p:spPr>
          <a:xfrm>
            <a:off x="8398667" y="2054287"/>
            <a:ext cx="3312368" cy="14026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 spc="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AE" sz="2400" b="1" dirty="0"/>
          </a:p>
          <a:p>
            <a:pPr algn="ctr"/>
            <a:r>
              <a:rPr lang="en-PH" sz="2400" dirty="0"/>
              <a:t>Local Interpretability (LIME)</a:t>
            </a:r>
            <a:br>
              <a:rPr lang="en-AE" dirty="0"/>
            </a:b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6D0D8C-2D8E-F294-8820-4D50969F9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700" y="4581128"/>
            <a:ext cx="3024335" cy="128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3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81844" y="980728"/>
            <a:ext cx="10513168" cy="72008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ETHICAL AI &amp; FAIRNESS AUDIT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98468" y="2405162"/>
            <a:ext cx="5328592" cy="4032448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Fairness Summary</a:t>
            </a:r>
          </a:p>
          <a:p>
            <a:pPr algn="just"/>
            <a:r>
              <a:rPr lang="en-US" sz="2000" dirty="0"/>
              <a:t>The auditing process evaluated algorithmic disparity across transaction value groups.</a:t>
            </a:r>
          </a:p>
          <a:p>
            <a:pPr algn="just"/>
            <a:endParaRPr lang="en-US" sz="2000" dirty="0">
              <a:solidFill>
                <a:schemeClr val="accent1"/>
              </a:solidFill>
            </a:endParaRPr>
          </a:p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Verdict:</a:t>
            </a:r>
          </a:p>
          <a:p>
            <a:pPr algn="just"/>
            <a:r>
              <a:rPr lang="en-US" sz="2000" dirty="0"/>
              <a:t> Disparities in target metrics represent statistically negligible differences. The trained classifier maintains a fair, robust, and non-discriminatory outcome space across monetary sizes.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D87808-FDFB-9A07-1A1F-6C0E8A559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34" y="3068960"/>
            <a:ext cx="5616624" cy="1920955"/>
          </a:xfrm>
          <a:prstGeom prst="rect">
            <a:avLst/>
          </a:prstGeom>
          <a:effectLst>
            <a:glow rad="63500">
              <a:schemeClr val="accent1"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10850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31BD0-13A4-F1A6-3492-651720EFA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868" y="764702"/>
            <a:ext cx="9793088" cy="648073"/>
          </a:xfrm>
        </p:spPr>
        <p:txBody>
          <a:bodyPr>
            <a:normAutofit/>
          </a:bodyPr>
          <a:lstStyle/>
          <a:p>
            <a:pPr algn="ctr"/>
            <a:r>
              <a:rPr lang="en-PH" sz="4000" b="1" dirty="0"/>
              <a:t>OPERATIONAL THRESHOLD TUNING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7755D-C833-F508-80A2-79F9FA8A3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0396" y="1988841"/>
            <a:ext cx="6120680" cy="4104456"/>
          </a:xfrm>
        </p:spPr>
        <p:txBody>
          <a:bodyPr>
            <a:noAutofit/>
          </a:bodyPr>
          <a:lstStyle/>
          <a:p>
            <a:r>
              <a:rPr lang="en-US" b="1" dirty="0"/>
              <a:t>The Recall-FP Trade-off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lowering model thresholds scales up THE transaction recall successfully, but is held back by generating an unacceptable volume of false alarms.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2">
                    <a:lumMod val="90000"/>
                  </a:schemeClr>
                </a:solidFill>
              </a:rPr>
              <a:t>Selected Decision Limit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An operational threshold of 0.5 was locked into balance transaction capture</a:t>
            </a:r>
          </a:p>
          <a:p>
            <a:r>
              <a:rPr lang="en-US" dirty="0">
                <a:solidFill>
                  <a:schemeClr val="tx1"/>
                </a:solidFill>
              </a:rPr>
              <a:t>limits against standard operational risk profiles.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85CE22-15AF-3A55-C09C-9B43E29B6F2A}"/>
              </a:ext>
            </a:extLst>
          </p:cNvPr>
          <p:cNvSpPr/>
          <p:nvPr/>
        </p:nvSpPr>
        <p:spPr>
          <a:xfrm>
            <a:off x="261764" y="1988840"/>
            <a:ext cx="5544616" cy="3672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74EB5B-2BC8-C0ED-A986-2A263CFC6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64" y="2636912"/>
            <a:ext cx="5315692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4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CFBD-F5CD-C2C9-276E-FDF0D7446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892" y="674812"/>
            <a:ext cx="8692399" cy="635992"/>
          </a:xfrm>
        </p:spPr>
        <p:txBody>
          <a:bodyPr>
            <a:normAutofit/>
          </a:bodyPr>
          <a:lstStyle/>
          <a:p>
            <a:pPr algn="ctr"/>
            <a:r>
              <a:rPr lang="en-PH" sz="4000" b="1" dirty="0"/>
              <a:t>KEY PROJECT ACHIEVEMENTS</a:t>
            </a:r>
            <a:endParaRPr lang="en-PH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50510-77AE-1E23-F973-A54F80486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852" y="2225328"/>
            <a:ext cx="3370784" cy="1716111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PH" sz="2600" b="1" dirty="0">
                <a:solidFill>
                  <a:schemeClr val="tx1"/>
                </a:solidFill>
              </a:rPr>
              <a:t>0.8687</a:t>
            </a:r>
          </a:p>
          <a:p>
            <a:endParaRPr lang="en-PH" sz="2600" b="1" dirty="0"/>
          </a:p>
          <a:p>
            <a:r>
              <a:rPr lang="en-PH" sz="2600" b="1" dirty="0"/>
              <a:t>Precision-Recall AUC</a:t>
            </a:r>
            <a:endParaRPr lang="en-PH" sz="2600" dirty="0"/>
          </a:p>
          <a:p>
            <a:br>
              <a:rPr lang="en-PH" dirty="0"/>
            </a:br>
            <a:endParaRPr lang="en-PH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5D35AEC-18FC-9C71-5848-1F952EB15F37}"/>
              </a:ext>
            </a:extLst>
          </p:cNvPr>
          <p:cNvSpPr txBox="1">
            <a:spLocks/>
          </p:cNvSpPr>
          <p:nvPr/>
        </p:nvSpPr>
        <p:spPr>
          <a:xfrm>
            <a:off x="1160748" y="3966275"/>
            <a:ext cx="3156991" cy="1788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0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 b="1" dirty="0">
                <a:solidFill>
                  <a:schemeClr val="tx1"/>
                </a:solidFill>
              </a:rPr>
              <a:t>19</a:t>
            </a:r>
          </a:p>
          <a:p>
            <a:endParaRPr lang="en-PH" dirty="0"/>
          </a:p>
          <a:p>
            <a:r>
              <a:rPr lang="en-PH" b="1" dirty="0"/>
              <a:t>False Positives (of 56.8k)</a:t>
            </a:r>
            <a:br>
              <a:rPr lang="en-PH" dirty="0"/>
            </a:br>
            <a:endParaRPr lang="en-PH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9EC25F5-29E6-FB9B-52F8-845B73FC4698}"/>
              </a:ext>
            </a:extLst>
          </p:cNvPr>
          <p:cNvSpPr txBox="1">
            <a:spLocks/>
          </p:cNvSpPr>
          <p:nvPr/>
        </p:nvSpPr>
        <p:spPr>
          <a:xfrm>
            <a:off x="6238428" y="2225328"/>
            <a:ext cx="5123929" cy="223224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0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2400" b="1" dirty="0">
                <a:solidFill>
                  <a:schemeClr val="tx1"/>
                </a:solidFill>
              </a:rPr>
              <a:t>Robust Model Selection</a:t>
            </a:r>
          </a:p>
          <a:p>
            <a:endParaRPr lang="en-PH" sz="2400" b="1" dirty="0">
              <a:solidFill>
                <a:schemeClr val="tx1"/>
              </a:solidFill>
            </a:endParaRPr>
          </a:p>
          <a:p>
            <a:r>
              <a:rPr lang="en-AE" sz="2400" dirty="0"/>
              <a:t>The </a:t>
            </a:r>
            <a:r>
              <a:rPr lang="en-AE" sz="2400" b="1" dirty="0"/>
              <a:t>Random Forest</a:t>
            </a:r>
            <a:r>
              <a:rPr lang="en-AE" sz="2400" dirty="0"/>
              <a:t> pipeline achieves superior predictive precision without subjecting cardholders to excessive false-alarm friction. </a:t>
            </a:r>
            <a:endParaRPr lang="en-PH" sz="2400" b="1" dirty="0"/>
          </a:p>
          <a:p>
            <a:br>
              <a:rPr lang="en-PH" dirty="0"/>
            </a:br>
            <a:endParaRPr lang="en-PH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15D353-EE58-4F4C-A484-80DFF7E19B01}"/>
              </a:ext>
            </a:extLst>
          </p:cNvPr>
          <p:cNvSpPr txBox="1">
            <a:spLocks/>
          </p:cNvSpPr>
          <p:nvPr/>
        </p:nvSpPr>
        <p:spPr>
          <a:xfrm>
            <a:off x="6261074" y="4221088"/>
            <a:ext cx="5123929" cy="23042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0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3600" b="1" dirty="0">
                <a:solidFill>
                  <a:schemeClr val="tx1"/>
                </a:solidFill>
              </a:rPr>
              <a:t>ETHICS AND REGULATORY COMPLIANCE</a:t>
            </a:r>
          </a:p>
          <a:p>
            <a:endParaRPr lang="en-PH" sz="3600" b="1" dirty="0"/>
          </a:p>
          <a:p>
            <a:r>
              <a:rPr lang="en-PH" sz="3600" dirty="0"/>
              <a:t>Built-in fairness checks confirm zero class bias and high consistency across transaction amounts, ensuring clean operational audits.</a:t>
            </a:r>
            <a:endParaRPr lang="en-PH" sz="3600" b="1" dirty="0"/>
          </a:p>
          <a:p>
            <a:br>
              <a:rPr lang="en-PH" dirty="0"/>
            </a:b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30696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617</TotalTime>
  <Words>746</Words>
  <Application>Microsoft Office PowerPoint</Application>
  <PresentationFormat>Custom</PresentationFormat>
  <Paragraphs>157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Corbel</vt:lpstr>
      <vt:lpstr>Inter</vt:lpstr>
      <vt:lpstr>Poppins</vt:lpstr>
      <vt:lpstr>Digital Blue Tunnel 16x9</vt:lpstr>
      <vt:lpstr>AI Credit Card Fraud Detection  Technical Capstone Presentation </vt:lpstr>
      <vt:lpstr>OBJECTIVES &amp; PROBLEM FRAMING</vt:lpstr>
      <vt:lpstr>KAGGLE DATASET SUMMARY </vt:lpstr>
      <vt:lpstr>EXPLORATORY DATA ANALYSIS  </vt:lpstr>
      <vt:lpstr>PowerPoint Presentation</vt:lpstr>
      <vt:lpstr>DIMENSIONALITY REDUCTION</vt:lpstr>
      <vt:lpstr>MACHINE LEARNING PIPELINE</vt:lpstr>
      <vt:lpstr>MODEL PERFORMANCE COMPARISON </vt:lpstr>
      <vt:lpstr>EXPLAINABILITY &amp; INTERPRETABILITY  </vt:lpstr>
      <vt:lpstr>ETHICAL AI &amp; FAIRNESS AUDIT</vt:lpstr>
      <vt:lpstr>OPERATIONAL THRESHOLD TUNING</vt:lpstr>
      <vt:lpstr>KEY PROJECT ACHIEVEMENTS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Orlando Pedro Alparce</dc:creator>
  <cp:lastModifiedBy>Orlando Pedro Alparce</cp:lastModifiedBy>
  <cp:revision>16</cp:revision>
  <dcterms:created xsi:type="dcterms:W3CDTF">2026-07-16T15:06:53Z</dcterms:created>
  <dcterms:modified xsi:type="dcterms:W3CDTF">2026-07-17T01:52:23Z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